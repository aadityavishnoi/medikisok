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(30 sec):</a:t>
            </a:r>
          </a:p>
          <a:p>
            <a:r>
              <a:t>Good morning respected judges. We present MediKiosk for SIH Problem Statement 26047. In Indian public hospital OPDs, doctors spend up to 80% of their scarce consultation time on repetitive history questions and decoding torn paper prescriptions. MediKiosk decouples this intake process and moves it to an autonomous, multilingual kiosk before the consultation begins.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(45 sec):</a:t>
            </a:r>
          </a:p>
          <a:p>
            <a:r>
              <a:t>Sir, Indian public healthcare faces a severe volume constraint. A single doctor sees over 100 patients every morning. In a 3-minute consultation, over 2 minutes are burned repeatedly asking basic questions and deciphering hand-written prescriptions. Mobile health apps don't work for the majority of these patients due to age, literacy, and language barriers. Furthermore, life-threatening symptoms sit undetected in the waiting hall. This calls for an on-premise hardware-software intake kiosk.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(45 sec):</a:t>
            </a:r>
          </a:p>
          <a:p>
            <a:r>
              <a:t>Our architecture decouples data collection from the consultation room into 4 seamless tiers. At the edge, a patient taps an RFID card costing less than 15 rupees. The kiosk guides them in their mother tongue using voice and large touch icons, and scans their previous prescriptions. While they walk to the doctor's room, our deterministic engine checks for red flags, and the physician receives an evidence-linked case sheet instantly.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(45 sec):</a:t>
            </a:r>
          </a:p>
          <a:p>
            <a:r>
              <a:t>Judges often question whether AI can be trusted in medical environments. Our answer is absolute safety guardrails. First, emergency red-flags do not rely on LLMs; they are hardcoded deterministic rules. Second, our copilot enforces strict evidence citations: every claim has a clickable link back to an answer or prescription box, leaving the doctor in full audit control. Third, we natively support both Allopathic and AYUSH clinical models.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(45 sec):</a:t>
            </a:r>
          </a:p>
          <a:p>
            <a:r>
              <a:t>To conclude with our upgradation roadmap: In Round 1, we validated the architecture and clinical logic. In Rounds 2 and 3, we build out the multilingual voice interface, OCR pipeline, and doctor copilot. In Round 4, we showcase the live physical ESP32 RFID hardware. Looking ahead to post-hackathon national deployment, our Phase 4 upgrades integrate an IoT diagnostic vitals pod—automatically measuring blood pressure, SpO2, and temperature at the kiosk—along with full ABDM/ABHA health locker synchronization and district-level disease outbreak analytics. Thank you, we are now ready for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73152" cy="34747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463040"/>
            <a:ext cx="10058400" cy="2103120"/>
          </a:xfrm>
          <a:prstGeom prst="rect">
            <a:avLst/>
          </a:prstGeom>
          <a:noFill/>
        </p:spPr>
        <p:txBody>
          <a:bodyPr wrap="square">
            <a:spAutoFit/>
          </a:bodyPr>
          <a:lstStyle/>
          <a:p>
            <a:pPr>
              <a:defRPr sz="4800" b="1">
                <a:solidFill>
                  <a:srgbClr val="F8FAFC"/>
                </a:solidFill>
              </a:defRPr>
            </a:pPr>
            <a:r>
              <a:t>MediKiosk</a:t>
            </a:r>
          </a:p>
          <a:p>
            <a:pPr>
              <a:spcBef>
                <a:spcPts val="800"/>
              </a:spcBef>
              <a:defRPr sz="2000">
                <a:solidFill>
                  <a:srgbClr val="14B8A6"/>
                </a:solidFill>
              </a:defRPr>
            </a:pPr>
            <a:r>
              <a:t>Autonomous Pre-Consultation Case-Taking &amp; Clinical Intelligence Copilot</a:t>
            </a:r>
          </a:p>
          <a:p>
            <a:pPr>
              <a:spcBef>
                <a:spcPts val="800"/>
              </a:spcBef>
              <a:defRPr sz="1350">
                <a:solidFill>
                  <a:srgbClr val="94A3B8"/>
                </a:solidFill>
              </a:defRPr>
            </a:pPr>
            <a:r>
              <a:t>Shifting comprehensive patient history acquisition, document OCR digitization, and emergency triage BEFORE doctor consultation.</a:t>
            </a:r>
          </a:p>
        </p:txBody>
      </p:sp>
      <p:sp>
        <p:nvSpPr>
          <p:cNvPr id="5" name="Rounded Rectangle 4"/>
          <p:cNvSpPr/>
          <p:nvPr/>
        </p:nvSpPr>
        <p:spPr>
          <a:xfrm>
            <a:off x="1005840" y="4114800"/>
            <a:ext cx="3200400" cy="16459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4B8A6"/>
                </a:solidFill>
              </a:defRPr>
            </a:pPr>
            <a:r>
              <a:t>PROBLEM STATEMENT</a:t>
            </a:r>
          </a:p>
          <a:p>
            <a:pPr>
              <a:spcBef>
                <a:spcPts val="400"/>
              </a:spcBef>
              <a:defRPr sz="1200">
                <a:solidFill>
                  <a:srgbClr val="F8FAFC"/>
                </a:solidFill>
              </a:defRPr>
            </a:pPr>
            <a:r>
              <a:t>SIH26047</a:t>
            </a:r>
            <a:br/>
            <a:r>
              <a:t>Patient Case-Taking Software</a:t>
            </a:r>
            <a:br/>
            <a:r>
              <a:t>Domain: MedTech / BioTech</a:t>
            </a:r>
          </a:p>
        </p:txBody>
      </p:sp>
      <p:sp>
        <p:nvSpPr>
          <p:cNvPr id="6" name="Rounded Rectangle 5"/>
          <p:cNvSpPr/>
          <p:nvPr/>
        </p:nvSpPr>
        <p:spPr>
          <a:xfrm>
            <a:off x="4480560" y="4114800"/>
            <a:ext cx="3200400" cy="16459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4B8A6"/>
                </a:solidFill>
              </a:defRPr>
            </a:pPr>
            <a:r>
              <a:t>EVALUATION ROUND</a:t>
            </a:r>
          </a:p>
          <a:p>
            <a:pPr>
              <a:spcBef>
                <a:spcPts val="400"/>
              </a:spcBef>
              <a:defRPr sz="1200">
                <a:solidFill>
                  <a:srgbClr val="F8FAFC"/>
                </a:solidFill>
              </a:defRPr>
            </a:pPr>
            <a:r>
              <a:t>Round 1 Pitch</a:t>
            </a:r>
            <a:br/>
            <a:r>
              <a:t>Core Architecture, Feasibility</a:t>
            </a:r>
            <a:br/>
            <a:r>
              <a:t>&amp; Phased Upgradation Plan</a:t>
            </a:r>
          </a:p>
        </p:txBody>
      </p:sp>
      <p:sp>
        <p:nvSpPr>
          <p:cNvPr id="7" name="Rounded Rectangle 6"/>
          <p:cNvSpPr/>
          <p:nvPr/>
        </p:nvSpPr>
        <p:spPr>
          <a:xfrm>
            <a:off x="7955279" y="4114800"/>
            <a:ext cx="3200400" cy="16459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4B8A6"/>
                </a:solidFill>
              </a:defRPr>
            </a:pPr>
            <a:r>
              <a:t>TEAM DETAILS</a:t>
            </a:r>
          </a:p>
          <a:p>
            <a:pPr>
              <a:spcBef>
                <a:spcPts val="400"/>
              </a:spcBef>
              <a:defRPr sz="1200">
                <a:solidFill>
                  <a:srgbClr val="F8FAFC"/>
                </a:solidFill>
              </a:defRPr>
            </a:pPr>
            <a:r>
              <a:t>Team: [Insert Team Name]</a:t>
            </a:r>
            <a:br/>
            <a:r>
              <a:t>Leader: [Insert Leader Name]</a:t>
            </a:r>
            <a:br/>
            <a:r>
              <a:t>Smart India Hackathon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20116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10515600" cy="320040"/>
          </a:xfrm>
          <a:prstGeom prst="rect">
            <a:avLst/>
          </a:prstGeom>
          <a:noFill/>
        </p:spPr>
        <p:txBody>
          <a:bodyPr wrap="square">
            <a:spAutoFit/>
          </a:bodyPr>
          <a:lstStyle/>
          <a:p>
            <a:pPr>
              <a:defRPr sz="1100" b="1">
                <a:solidFill>
                  <a:srgbClr val="14B8A6"/>
                </a:solidFill>
              </a:defRPr>
            </a:pPr>
            <a:r>
              <a:t>SIH 2026 | PROBLEM STATEMENT SIH26047 (MEDTECH)</a:t>
            </a:r>
          </a:p>
        </p:txBody>
      </p:sp>
      <p:sp>
        <p:nvSpPr>
          <p:cNvPr id="5" name="TextBox 4"/>
          <p:cNvSpPr txBox="1"/>
          <p:nvPr/>
        </p:nvSpPr>
        <p:spPr>
          <a:xfrm>
            <a:off x="731520" y="685800"/>
            <a:ext cx="10515600" cy="594360"/>
          </a:xfrm>
          <a:prstGeom prst="rect">
            <a:avLst/>
          </a:prstGeom>
          <a:noFill/>
        </p:spPr>
        <p:txBody>
          <a:bodyPr wrap="square">
            <a:spAutoFit/>
          </a:bodyPr>
          <a:lstStyle/>
          <a:p>
            <a:pPr>
              <a:defRPr sz="2400" b="1">
                <a:solidFill>
                  <a:srgbClr val="F8FAFC"/>
                </a:solidFill>
              </a:defRPr>
            </a:pPr>
            <a:r>
              <a:t>Ground Reality &amp; The Critical Bottlenecks in Indian OPDs</a:t>
            </a:r>
          </a:p>
        </p:txBody>
      </p:sp>
      <p:sp>
        <p:nvSpPr>
          <p:cNvPr id="6" name="Rounded Rectangle 5"/>
          <p:cNvSpPr/>
          <p:nvPr/>
        </p:nvSpPr>
        <p:spPr>
          <a:xfrm>
            <a:off x="731520" y="1463040"/>
            <a:ext cx="3291840" cy="146304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F43F5E"/>
                </a:solidFill>
              </a:defRPr>
            </a:pPr>
            <a:r>
              <a:t>2 to 5 MINS</a:t>
            </a:r>
          </a:p>
          <a:p>
            <a:pPr>
              <a:defRPr sz="1150">
                <a:solidFill>
                  <a:srgbClr val="F8FAFC"/>
                </a:solidFill>
              </a:defRPr>
            </a:pPr>
            <a:r>
              <a:t>Average Consultation Time</a:t>
            </a:r>
            <a:br/>
            <a:r>
              <a:t>Per patient in crowded public hospital OPDs</a:t>
            </a:r>
          </a:p>
        </p:txBody>
      </p:sp>
      <p:sp>
        <p:nvSpPr>
          <p:cNvPr id="7" name="Rounded Rectangle 6"/>
          <p:cNvSpPr/>
          <p:nvPr/>
        </p:nvSpPr>
        <p:spPr>
          <a:xfrm>
            <a:off x="4389120" y="1463040"/>
            <a:ext cx="3291840" cy="146304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38BDF8"/>
                </a:solidFill>
              </a:defRPr>
            </a:pPr>
            <a:r>
              <a:t>60% - 80%</a:t>
            </a:r>
          </a:p>
          <a:p>
            <a:pPr>
              <a:defRPr sz="1150">
                <a:solidFill>
                  <a:srgbClr val="F8FAFC"/>
                </a:solidFill>
              </a:defRPr>
            </a:pPr>
            <a:r>
              <a:t>Time Wasted on History Taking</a:t>
            </a:r>
            <a:br/>
            <a:r>
              <a:t>Repetitive Q&amp;A + deciphering fragmented paper records</a:t>
            </a:r>
          </a:p>
        </p:txBody>
      </p:sp>
      <p:sp>
        <p:nvSpPr>
          <p:cNvPr id="8" name="Rounded Rectangle 7"/>
          <p:cNvSpPr/>
          <p:nvPr/>
        </p:nvSpPr>
        <p:spPr>
          <a:xfrm>
            <a:off x="8046720" y="1463040"/>
            <a:ext cx="3291840" cy="146304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4B8A6"/>
                </a:solidFill>
              </a:defRPr>
            </a:pPr>
            <a:r>
              <a:t>ZERO TRIAGE</a:t>
            </a:r>
          </a:p>
          <a:p>
            <a:pPr>
              <a:defRPr sz="1150">
                <a:solidFill>
                  <a:srgbClr val="F8FAFC"/>
                </a:solidFill>
              </a:defRPr>
            </a:pPr>
            <a:r>
              <a:t>In Waiting Room Queues</a:t>
            </a:r>
            <a:br/>
            <a:r>
              <a:t>Life-threatening emergencies sit undetected in lines</a:t>
            </a:r>
          </a:p>
        </p:txBody>
      </p:sp>
      <p:sp>
        <p:nvSpPr>
          <p:cNvPr id="9" name="Rounded Rectangle 8"/>
          <p:cNvSpPr/>
          <p:nvPr/>
        </p:nvSpPr>
        <p:spPr>
          <a:xfrm>
            <a:off x="731520" y="3200400"/>
            <a:ext cx="10607040" cy="31089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4B8A6"/>
                </a:solidFill>
              </a:defRPr>
            </a:pPr>
            <a:r>
              <a:t>FOUR FATAL FAILURES OF EXISTING APPROACHES</a:t>
            </a:r>
          </a:p>
          <a:p>
            <a:pPr>
              <a:spcBef>
                <a:spcPts val="800"/>
              </a:spcBef>
            </a:pPr>
            <a:r>
              <a:rPr b="1" sz="1250">
                <a:solidFill>
                  <a:srgbClr val="F8FAFC"/>
                </a:solidFill>
              </a:rPr>
              <a:t>• Fragmented Paper Records: </a:t>
            </a:r>
            <a:r>
              <a:rPr sz="1250">
                <a:solidFill>
                  <a:srgbClr val="94A3B8"/>
                </a:solidFill>
              </a:rPr>
              <a:t>Patients carry torn, faded prescriptions from different clinics; doctors have zero historical continuity.</a:t>
            </a:r>
          </a:p>
          <a:p>
            <a:pPr>
              <a:spcBef>
                <a:spcPts val="800"/>
              </a:spcBef>
            </a:pPr>
            <a:r>
              <a:rPr b="1" sz="1250">
                <a:solidFill>
                  <a:srgbClr val="F8FAFC"/>
                </a:solidFill>
              </a:rPr>
              <a:t>• Why Mobile Apps Fail: </a:t>
            </a:r>
            <a:r>
              <a:rPr sz="1250">
                <a:solidFill>
                  <a:srgbClr val="94A3B8"/>
                </a:solidFill>
              </a:rPr>
              <a:t>Elderly &amp; rural patients face digital illiteracy, lack of smartphones, and complex English-only portals.</a:t>
            </a:r>
          </a:p>
          <a:p>
            <a:pPr>
              <a:spcBef>
                <a:spcPts val="800"/>
              </a:spcBef>
            </a:pPr>
            <a:r>
              <a:rPr b="1" sz="1250">
                <a:solidFill>
                  <a:srgbClr val="F8FAFC"/>
                </a:solidFill>
              </a:rPr>
              <a:t>• Physician Burnout &amp; Missed Diagnoses: </a:t>
            </a:r>
            <a:r>
              <a:rPr sz="1250">
                <a:solidFill>
                  <a:srgbClr val="94A3B8"/>
                </a:solidFill>
              </a:rPr>
              <a:t>Examining 100+ patients in a 4-hour shift forces doctors into rapid, superficial questioning.</a:t>
            </a:r>
          </a:p>
          <a:p>
            <a:pPr>
              <a:spcBef>
                <a:spcPts val="800"/>
              </a:spcBef>
            </a:pPr>
            <a:r>
              <a:rPr b="1" sz="1250">
                <a:solidFill>
                  <a:srgbClr val="F8FAFC"/>
                </a:solidFill>
              </a:rPr>
              <a:t>• Unidentified Red-Flags: </a:t>
            </a:r>
            <a:r>
              <a:rPr sz="1250">
                <a:solidFill>
                  <a:srgbClr val="94A3B8"/>
                </a:solidFill>
              </a:rPr>
              <a:t>Heart attack or stroke symptoms wait in general queues for hours without any early automated triage.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20116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10515600" cy="320040"/>
          </a:xfrm>
          <a:prstGeom prst="rect">
            <a:avLst/>
          </a:prstGeom>
          <a:noFill/>
        </p:spPr>
        <p:txBody>
          <a:bodyPr wrap="square">
            <a:spAutoFit/>
          </a:bodyPr>
          <a:lstStyle/>
          <a:p>
            <a:pPr>
              <a:defRPr sz="1100" b="1">
                <a:solidFill>
                  <a:srgbClr val="14B8A6"/>
                </a:solidFill>
              </a:defRPr>
            </a:pPr>
            <a:r>
              <a:t>SIH 2026 | PROBLEM STATEMENT SIH26047 (MEDTECH)</a:t>
            </a:r>
          </a:p>
        </p:txBody>
      </p:sp>
      <p:sp>
        <p:nvSpPr>
          <p:cNvPr id="5" name="TextBox 4"/>
          <p:cNvSpPr txBox="1"/>
          <p:nvPr/>
        </p:nvSpPr>
        <p:spPr>
          <a:xfrm>
            <a:off x="731520" y="685800"/>
            <a:ext cx="10515600" cy="594360"/>
          </a:xfrm>
          <a:prstGeom prst="rect">
            <a:avLst/>
          </a:prstGeom>
          <a:noFill/>
        </p:spPr>
        <p:txBody>
          <a:bodyPr wrap="square">
            <a:spAutoFit/>
          </a:bodyPr>
          <a:lstStyle/>
          <a:p>
            <a:pPr>
              <a:defRPr sz="2400" b="1">
                <a:solidFill>
                  <a:srgbClr val="F8FAFC"/>
                </a:solidFill>
              </a:defRPr>
            </a:pPr>
            <a:r>
              <a:t>Proposed Solution: End-to-End 4-Tier System Architecture</a:t>
            </a:r>
          </a:p>
        </p:txBody>
      </p:sp>
      <p:sp>
        <p:nvSpPr>
          <p:cNvPr id="6" name="Rounded Rectangle 5"/>
          <p:cNvSpPr/>
          <p:nvPr/>
        </p:nvSpPr>
        <p:spPr>
          <a:xfrm>
            <a:off x="731520" y="1463040"/>
            <a:ext cx="256032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4B8A6"/>
                </a:solidFill>
              </a:defRPr>
            </a:pPr>
            <a:r>
              <a:t>TIER 1: IOT EDGE</a:t>
            </a:r>
          </a:p>
          <a:p>
            <a:pPr>
              <a:spcBef>
                <a:spcPts val="400"/>
              </a:spcBef>
              <a:defRPr sz="1400" b="1">
                <a:solidFill>
                  <a:srgbClr val="F8FAFC"/>
                </a:solidFill>
              </a:defRPr>
            </a:pPr>
            <a:r>
              <a:t>ESP32 &amp; Smart RFID</a:t>
            </a:r>
          </a:p>
          <a:p>
            <a:pPr>
              <a:spcBef>
                <a:spcPts val="1000"/>
              </a:spcBef>
              <a:defRPr sz="1100">
                <a:solidFill>
                  <a:srgbClr val="94A3B8"/>
                </a:solidFill>
              </a:defRPr>
            </a:pPr>
            <a:r>
              <a:t>• Instant contactless patient identification (&lt;1 sec).</a:t>
            </a:r>
            <a:br/>
            <a:r>
              <a:t>• Physical separation: Card stores ONLY random UID, zero health data (PHI) on card for total privacy.</a:t>
            </a:r>
          </a:p>
          <a:p>
            <a:pPr>
              <a:spcBef>
                <a:spcPts val="1800"/>
              </a:spcBef>
              <a:defRPr sz="850">
                <a:solidFill>
                  <a:srgbClr val="22C55E"/>
                </a:solidFill>
              </a:defRPr>
            </a:pPr>
            <a:r>
              <a:t>Status: Architecture Designed &amp; Verified</a:t>
            </a:r>
          </a:p>
        </p:txBody>
      </p:sp>
      <p:sp>
        <p:nvSpPr>
          <p:cNvPr id="7" name="Rounded Rectangle 6"/>
          <p:cNvSpPr/>
          <p:nvPr/>
        </p:nvSpPr>
        <p:spPr>
          <a:xfrm>
            <a:off x="3474720" y="1463040"/>
            <a:ext cx="256032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4B8A6"/>
                </a:solidFill>
              </a:defRPr>
            </a:pPr>
            <a:r>
              <a:t>TIER 2: PATIENT INTAKE</a:t>
            </a:r>
          </a:p>
          <a:p>
            <a:pPr>
              <a:spcBef>
                <a:spcPts val="400"/>
              </a:spcBef>
              <a:defRPr sz="1400" b="1">
                <a:solidFill>
                  <a:srgbClr val="F8FAFC"/>
                </a:solidFill>
              </a:defRPr>
            </a:pPr>
            <a:r>
              <a:t>Touch &amp; Voice Kiosk</a:t>
            </a:r>
          </a:p>
          <a:p>
            <a:pPr>
              <a:spcBef>
                <a:spcPts val="1000"/>
              </a:spcBef>
              <a:defRPr sz="1100">
                <a:solidFill>
                  <a:srgbClr val="94A3B8"/>
                </a:solidFill>
              </a:defRPr>
            </a:pPr>
            <a:r>
              <a:t>• Multilingual conversational intake in 13 Indian languages.</a:t>
            </a:r>
            <a:br/>
            <a:r>
              <a:t>• Native audio prompts + voice input for low-literacy users.</a:t>
            </a:r>
            <a:br/>
            <a:r>
              <a:t>• On-kiosk HD document scanner for old prescriptions.</a:t>
            </a:r>
          </a:p>
          <a:p>
            <a:pPr>
              <a:spcBef>
                <a:spcPts val="1800"/>
              </a:spcBef>
              <a:defRPr sz="850">
                <a:solidFill>
                  <a:srgbClr val="22C55E"/>
                </a:solidFill>
              </a:defRPr>
            </a:pPr>
            <a:r>
              <a:t>Status: Architecture Designed &amp; Verified</a:t>
            </a:r>
          </a:p>
        </p:txBody>
      </p:sp>
      <p:sp>
        <p:nvSpPr>
          <p:cNvPr id="8" name="Rounded Rectangle 7"/>
          <p:cNvSpPr/>
          <p:nvPr/>
        </p:nvSpPr>
        <p:spPr>
          <a:xfrm>
            <a:off x="6217920" y="1463040"/>
            <a:ext cx="256032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4B8A6"/>
                </a:solidFill>
              </a:defRPr>
            </a:pPr>
            <a:r>
              <a:t>TIER 3: CORE SAFETY BUS</a:t>
            </a:r>
          </a:p>
          <a:p>
            <a:pPr>
              <a:spcBef>
                <a:spcPts val="400"/>
              </a:spcBef>
              <a:defRPr sz="1400" b="1">
                <a:solidFill>
                  <a:srgbClr val="F8FAFC"/>
                </a:solidFill>
              </a:defRPr>
            </a:pPr>
            <a:r>
              <a:t>Realtime Triage Engine</a:t>
            </a:r>
          </a:p>
          <a:p>
            <a:pPr>
              <a:spcBef>
                <a:spcPts val="1000"/>
              </a:spcBef>
              <a:defRPr sz="1100">
                <a:solidFill>
                  <a:srgbClr val="94A3B8"/>
                </a:solidFill>
              </a:defRPr>
            </a:pPr>
            <a:r>
              <a:t>• Deterministic emergency triage rules (Chest pain, dyspnea).</a:t>
            </a:r>
            <a:br/>
            <a:r>
              <a:t>• Zero-LLM latency: immediate audio-visual alert to hospital nursing queue.</a:t>
            </a:r>
            <a:br/>
            <a:r>
              <a:t>• WebSockets + Prisma ORM + PostgreSQL.</a:t>
            </a:r>
          </a:p>
          <a:p>
            <a:pPr>
              <a:spcBef>
                <a:spcPts val="1800"/>
              </a:spcBef>
              <a:defRPr sz="850">
                <a:solidFill>
                  <a:srgbClr val="22C55E"/>
                </a:solidFill>
              </a:defRPr>
            </a:pPr>
            <a:r>
              <a:t>Status: Architecture Designed &amp; Verified</a:t>
            </a:r>
          </a:p>
        </p:txBody>
      </p:sp>
      <p:sp>
        <p:nvSpPr>
          <p:cNvPr id="9" name="Rounded Rectangle 8"/>
          <p:cNvSpPr/>
          <p:nvPr/>
        </p:nvSpPr>
        <p:spPr>
          <a:xfrm>
            <a:off x="8961120" y="1463040"/>
            <a:ext cx="256032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4B8A6"/>
                </a:solidFill>
              </a:defRPr>
            </a:pPr>
            <a:r>
              <a:t>TIER 4: CLINICAL SUITE</a:t>
            </a:r>
          </a:p>
          <a:p>
            <a:pPr>
              <a:spcBef>
                <a:spcPts val="400"/>
              </a:spcBef>
              <a:defRPr sz="1400" b="1">
                <a:solidFill>
                  <a:srgbClr val="F8FAFC"/>
                </a:solidFill>
              </a:defRPr>
            </a:pPr>
            <a:r>
              <a:t>Doctor 360 &amp; Copilot</a:t>
            </a:r>
          </a:p>
          <a:p>
            <a:pPr>
              <a:spcBef>
                <a:spcPts val="1000"/>
              </a:spcBef>
              <a:defRPr sz="1100">
                <a:solidFill>
                  <a:srgbClr val="94A3B8"/>
                </a:solidFill>
              </a:defRPr>
            </a:pPr>
            <a:r>
              <a:t>• Live priority-sorted patient queue with risk badges.</a:t>
            </a:r>
            <a:br/>
            <a:r>
              <a:t>• Evidence-linked SOAP case summary ready before entry.</a:t>
            </a:r>
            <a:br/>
            <a:r>
              <a:t>• Interactive clinical Q&amp;A copilot + ABDM/FHIR readiness.</a:t>
            </a:r>
          </a:p>
          <a:p>
            <a:pPr>
              <a:spcBef>
                <a:spcPts val="1800"/>
              </a:spcBef>
              <a:defRPr sz="850">
                <a:solidFill>
                  <a:srgbClr val="22C55E"/>
                </a:solidFill>
              </a:defRPr>
            </a:pPr>
            <a:r>
              <a:t>Status: Architecture Designed &amp; Verified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20116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10515600" cy="320040"/>
          </a:xfrm>
          <a:prstGeom prst="rect">
            <a:avLst/>
          </a:prstGeom>
          <a:noFill/>
        </p:spPr>
        <p:txBody>
          <a:bodyPr wrap="square">
            <a:spAutoFit/>
          </a:bodyPr>
          <a:lstStyle/>
          <a:p>
            <a:pPr>
              <a:defRPr sz="1100" b="1">
                <a:solidFill>
                  <a:srgbClr val="14B8A6"/>
                </a:solidFill>
              </a:defRPr>
            </a:pPr>
            <a:r>
              <a:t>SIH 2026 | PROBLEM STATEMENT SIH26047 (MEDTECH)</a:t>
            </a:r>
          </a:p>
        </p:txBody>
      </p:sp>
      <p:sp>
        <p:nvSpPr>
          <p:cNvPr id="5" name="TextBox 4"/>
          <p:cNvSpPr txBox="1"/>
          <p:nvPr/>
        </p:nvSpPr>
        <p:spPr>
          <a:xfrm>
            <a:off x="731520" y="685800"/>
            <a:ext cx="10515600" cy="594360"/>
          </a:xfrm>
          <a:prstGeom prst="rect">
            <a:avLst/>
          </a:prstGeom>
          <a:noFill/>
        </p:spPr>
        <p:txBody>
          <a:bodyPr wrap="square">
            <a:spAutoFit/>
          </a:bodyPr>
          <a:lstStyle/>
          <a:p>
            <a:pPr>
              <a:defRPr sz="2400" b="1">
                <a:solidFill>
                  <a:srgbClr val="F8FAFC"/>
                </a:solidFill>
              </a:defRPr>
            </a:pPr>
            <a:r>
              <a:t>Core Technical USPs &amp; Clinical AI Safety Guardrails</a:t>
            </a:r>
          </a:p>
        </p:txBody>
      </p:sp>
      <p:sp>
        <p:nvSpPr>
          <p:cNvPr id="6" name="Rounded Rectangle 5"/>
          <p:cNvSpPr/>
          <p:nvPr/>
        </p:nvSpPr>
        <p:spPr>
          <a:xfrm>
            <a:off x="731520" y="1463040"/>
            <a:ext cx="5120640" cy="22860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b="1">
                <a:solidFill>
                  <a:srgbClr val="5EEAD4"/>
                </a:solidFill>
              </a:defRPr>
            </a:pPr>
            <a:r>
              <a:t>🛡️ Traceable Evidence Source Citations</a:t>
            </a:r>
          </a:p>
          <a:p>
            <a:pPr>
              <a:spcBef>
                <a:spcPts val="800"/>
              </a:spcBef>
              <a:defRPr sz="1150">
                <a:solidFill>
                  <a:srgbClr val="94A3B8"/>
                </a:solidFill>
              </a:defRPr>
            </a:pPr>
            <a:r>
              <a:t>Every clinical statement generated by the AI copilot contains clickable citation chips ([Answer #12], [Doc #03]). The physician can click to trace back directly to raw voice transcripts or scanned prescription images, ensuring strict ground-truth auditability.</a:t>
            </a:r>
          </a:p>
        </p:txBody>
      </p:sp>
      <p:sp>
        <p:nvSpPr>
          <p:cNvPr id="7" name="Rounded Rectangle 6"/>
          <p:cNvSpPr/>
          <p:nvPr/>
        </p:nvSpPr>
        <p:spPr>
          <a:xfrm>
            <a:off x="6217920" y="1463040"/>
            <a:ext cx="5120640" cy="22860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b="1">
                <a:solidFill>
                  <a:srgbClr val="5EEAD4"/>
                </a:solidFill>
              </a:defRPr>
            </a:pPr>
            <a:r>
              <a:t>⚡ Deterministic Emergency Red-Flag Triage</a:t>
            </a:r>
          </a:p>
          <a:p>
            <a:pPr>
              <a:spcBef>
                <a:spcPts val="800"/>
              </a:spcBef>
              <a:defRPr sz="1150">
                <a:solidFill>
                  <a:srgbClr val="94A3B8"/>
                </a:solidFill>
              </a:defRPr>
            </a:pPr>
            <a:r>
              <a:t>Life-threatening symptoms (chest pain radiating to arm, acute breathlessness, sudden syncope) bypass probabilistic LLMs completely. A hardcoded, deterministic rule engine triggers instant hospital alarms in under 1 second.</a:t>
            </a:r>
          </a:p>
        </p:txBody>
      </p:sp>
      <p:sp>
        <p:nvSpPr>
          <p:cNvPr id="8" name="Rounded Rectangle 7"/>
          <p:cNvSpPr/>
          <p:nvPr/>
        </p:nvSpPr>
        <p:spPr>
          <a:xfrm>
            <a:off x="731520" y="3931920"/>
            <a:ext cx="5120640" cy="22860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b="1">
                <a:solidFill>
                  <a:srgbClr val="5EEAD4"/>
                </a:solidFill>
              </a:defRPr>
            </a:pPr>
            <a:r>
              <a:t>🌿 Dual Allopathic &amp; AYUSH Clinical Engine</a:t>
            </a:r>
          </a:p>
          <a:p>
            <a:pPr>
              <a:spcBef>
                <a:spcPts val="800"/>
              </a:spcBef>
              <a:defRPr sz="1150">
                <a:solidFill>
                  <a:srgbClr val="94A3B8"/>
                </a:solidFill>
              </a:defRPr>
            </a:pPr>
            <a:r>
              <a:t>Recognizing India's healthcare diversity, the kiosk supports dynamic branching into AYUSH clinical case-taking (Prakriti, Vikriti, Agni, Dhatu, Sara, Sattva) alongside standard allopathic clinical trees.</a:t>
            </a:r>
          </a:p>
        </p:txBody>
      </p:sp>
      <p:sp>
        <p:nvSpPr>
          <p:cNvPr id="9" name="Rounded Rectangle 8"/>
          <p:cNvSpPr/>
          <p:nvPr/>
        </p:nvSpPr>
        <p:spPr>
          <a:xfrm>
            <a:off x="6217920" y="3931920"/>
            <a:ext cx="5120640" cy="22860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b="1">
                <a:solidFill>
                  <a:srgbClr val="5EEAD4"/>
                </a:solidFill>
              </a:defRPr>
            </a:pPr>
            <a:r>
              <a:t>📄 Intelligent Rx Layout Analysis &amp; OCR</a:t>
            </a:r>
          </a:p>
          <a:p>
            <a:pPr>
              <a:spcBef>
                <a:spcPts val="800"/>
              </a:spcBef>
              <a:defRPr sz="1150">
                <a:solidFill>
                  <a:srgbClr val="94A3B8"/>
                </a:solidFill>
              </a:defRPr>
            </a:pPr>
            <a:r>
              <a:t>Specialized document OCR pipeline detects medical entities (medications, dosages, frequencies, lab values) from crumpled paper records and organizes them into chronological clinical timelines.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20116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10515600" cy="320040"/>
          </a:xfrm>
          <a:prstGeom prst="rect">
            <a:avLst/>
          </a:prstGeom>
          <a:noFill/>
        </p:spPr>
        <p:txBody>
          <a:bodyPr wrap="square">
            <a:spAutoFit/>
          </a:bodyPr>
          <a:lstStyle/>
          <a:p>
            <a:pPr>
              <a:defRPr sz="1100" b="1">
                <a:solidFill>
                  <a:srgbClr val="14B8A6"/>
                </a:solidFill>
              </a:defRPr>
            </a:pPr>
            <a:r>
              <a:t>FUTURE UPGRADATION &amp; ROADMAP</a:t>
            </a:r>
          </a:p>
        </p:txBody>
      </p:sp>
      <p:sp>
        <p:nvSpPr>
          <p:cNvPr id="5" name="TextBox 4"/>
          <p:cNvSpPr txBox="1"/>
          <p:nvPr/>
        </p:nvSpPr>
        <p:spPr>
          <a:xfrm>
            <a:off x="731520" y="685800"/>
            <a:ext cx="10515600" cy="594360"/>
          </a:xfrm>
          <a:prstGeom prst="rect">
            <a:avLst/>
          </a:prstGeom>
          <a:noFill/>
        </p:spPr>
        <p:txBody>
          <a:bodyPr wrap="square">
            <a:spAutoFit/>
          </a:bodyPr>
          <a:lstStyle/>
          <a:p>
            <a:pPr>
              <a:defRPr sz="2400" b="1">
                <a:solidFill>
                  <a:srgbClr val="F8FAFC"/>
                </a:solidFill>
              </a:defRPr>
            </a:pPr>
            <a:r>
              <a:t>Phased Upgradation &amp; Future Expansion Roadmap</a:t>
            </a:r>
          </a:p>
        </p:txBody>
      </p:sp>
      <p:sp>
        <p:nvSpPr>
          <p:cNvPr id="6" name="Rounded Rectangle 5"/>
          <p:cNvSpPr/>
          <p:nvPr/>
        </p:nvSpPr>
        <p:spPr>
          <a:xfrm>
            <a:off x="731520" y="1463040"/>
            <a:ext cx="256032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22C55E"/>
                </a:solidFill>
              </a:defRPr>
            </a:pPr>
            <a:r>
              <a:t>PHASE 1 (CURRENT ROUND)</a:t>
            </a:r>
          </a:p>
          <a:p>
            <a:pPr>
              <a:spcBef>
                <a:spcPts val="400"/>
              </a:spcBef>
              <a:defRPr sz="1350" b="1">
                <a:solidFill>
                  <a:srgbClr val="F8FAFC"/>
                </a:solidFill>
              </a:defRPr>
            </a:pPr>
            <a:r>
              <a:t>Clinical Foundation &amp; Architecture</a:t>
            </a:r>
          </a:p>
          <a:p>
            <a:pPr>
              <a:spcBef>
                <a:spcPts val="700"/>
              </a:spcBef>
              <a:defRPr sz="1000">
                <a:solidFill>
                  <a:srgbClr val="94A3B8"/>
                </a:solidFill>
              </a:defRPr>
            </a:pPr>
            <a:r>
              <a:t>• SIH26047 problem validation &amp; OPD survey.</a:t>
            </a:r>
          </a:p>
          <a:p>
            <a:pPr>
              <a:spcBef>
                <a:spcPts val="700"/>
              </a:spcBef>
              <a:defRPr sz="1000">
                <a:solidFill>
                  <a:srgbClr val="94A3B8"/>
                </a:solidFill>
              </a:defRPr>
            </a:pPr>
            <a:r>
              <a:t>• Monorepo architecture &amp; strictly typed schemas.</a:t>
            </a:r>
          </a:p>
          <a:p>
            <a:pPr>
              <a:spcBef>
                <a:spcPts val="700"/>
              </a:spcBef>
              <a:defRPr sz="1000">
                <a:solidFill>
                  <a:srgbClr val="94A3B8"/>
                </a:solidFill>
              </a:defRPr>
            </a:pPr>
            <a:r>
              <a:t>• Clinical decision trees &amp; deterministic red flags.</a:t>
            </a:r>
          </a:p>
          <a:p>
            <a:pPr>
              <a:spcBef>
                <a:spcPts val="700"/>
              </a:spcBef>
              <a:defRPr sz="1000">
                <a:solidFill>
                  <a:srgbClr val="94A3B8"/>
                </a:solidFill>
              </a:defRPr>
            </a:pPr>
            <a:r>
              <a:t>• Focus: Design feasibility &amp; safety validation.</a:t>
            </a:r>
          </a:p>
        </p:txBody>
      </p:sp>
      <p:sp>
        <p:nvSpPr>
          <p:cNvPr id="7" name="Rounded Rectangle 6"/>
          <p:cNvSpPr/>
          <p:nvPr/>
        </p:nvSpPr>
        <p:spPr>
          <a:xfrm>
            <a:off x="3474720" y="1463040"/>
            <a:ext cx="256032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38BDF8"/>
                </a:solidFill>
              </a:defRPr>
            </a:pPr>
            <a:r>
              <a:t>PHASE 2 (ROUNDS 2-3)</a:t>
            </a:r>
          </a:p>
          <a:p>
            <a:pPr>
              <a:spcBef>
                <a:spcPts val="400"/>
              </a:spcBef>
              <a:defRPr sz="1350" b="1">
                <a:solidFill>
                  <a:srgbClr val="F8FAFC"/>
                </a:solidFill>
              </a:defRPr>
            </a:pPr>
            <a:r>
              <a:t>Software Integration &amp; AI Pipeline</a:t>
            </a:r>
          </a:p>
          <a:p>
            <a:pPr>
              <a:spcBef>
                <a:spcPts val="700"/>
              </a:spcBef>
              <a:defRPr sz="1000">
                <a:solidFill>
                  <a:srgbClr val="94A3B8"/>
                </a:solidFill>
              </a:defRPr>
            </a:pPr>
            <a:r>
              <a:t>• Voice-enabled 13-language patient kiosk UI.</a:t>
            </a:r>
          </a:p>
          <a:p>
            <a:pPr>
              <a:spcBef>
                <a:spcPts val="700"/>
              </a:spcBef>
              <a:defRPr sz="1000">
                <a:solidFill>
                  <a:srgbClr val="94A3B8"/>
                </a:solidFill>
              </a:defRPr>
            </a:pPr>
            <a:r>
              <a:t>• Rx &amp; Lab report OCR layout analysis pipeline.</a:t>
            </a:r>
          </a:p>
          <a:p>
            <a:pPr>
              <a:spcBef>
                <a:spcPts val="700"/>
              </a:spcBef>
              <a:defRPr sz="1000">
                <a:solidFill>
                  <a:srgbClr val="94A3B8"/>
                </a:solidFill>
              </a:defRPr>
            </a:pPr>
            <a:r>
              <a:t>• Physician 360 Copilot with evidence citations.</a:t>
            </a:r>
          </a:p>
          <a:p>
            <a:pPr>
              <a:spcBef>
                <a:spcPts val="700"/>
              </a:spcBef>
              <a:defRPr sz="1000">
                <a:solidFill>
                  <a:srgbClr val="94A3B8"/>
                </a:solidFill>
              </a:defRPr>
            </a:pPr>
            <a:r>
              <a:t>• Multi-facility hospital queue monitoring.</a:t>
            </a:r>
          </a:p>
        </p:txBody>
      </p:sp>
      <p:sp>
        <p:nvSpPr>
          <p:cNvPr id="8" name="Rounded Rectangle 7"/>
          <p:cNvSpPr/>
          <p:nvPr/>
        </p:nvSpPr>
        <p:spPr>
          <a:xfrm>
            <a:off x="6217920" y="1463040"/>
            <a:ext cx="256032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5EEAD4"/>
                </a:solidFill>
              </a:defRPr>
            </a:pPr>
            <a:r>
              <a:t>PHASE 3 (FINALE / ROUND 4)</a:t>
            </a:r>
          </a:p>
          <a:p>
            <a:pPr>
              <a:spcBef>
                <a:spcPts val="400"/>
              </a:spcBef>
              <a:defRPr sz="1350" b="1">
                <a:solidFill>
                  <a:srgbClr val="F8FAFC"/>
                </a:solidFill>
              </a:defRPr>
            </a:pPr>
            <a:r>
              <a:t>Hardware Fleet &amp; Edge Testing</a:t>
            </a:r>
          </a:p>
          <a:p>
            <a:pPr>
              <a:spcBef>
                <a:spcPts val="700"/>
              </a:spcBef>
              <a:defRPr sz="1000">
                <a:solidFill>
                  <a:srgbClr val="94A3B8"/>
                </a:solidFill>
              </a:defRPr>
            </a:pPr>
            <a:r>
              <a:t>• Physical ESP32 RFID hardware demonstration.</a:t>
            </a:r>
          </a:p>
          <a:p>
            <a:pPr>
              <a:spcBef>
                <a:spcPts val="700"/>
              </a:spcBef>
              <a:defRPr sz="1000">
                <a:solidFill>
                  <a:srgbClr val="94A3B8"/>
                </a:solidFill>
              </a:defRPr>
            </a:pPr>
            <a:r>
              <a:t>• Central Command Center with AI CER governance.</a:t>
            </a:r>
          </a:p>
          <a:p>
            <a:pPr>
              <a:spcBef>
                <a:spcPts val="700"/>
              </a:spcBef>
              <a:defRPr sz="1000">
                <a:solidFill>
                  <a:srgbClr val="94A3B8"/>
                </a:solidFill>
              </a:defRPr>
            </a:pPr>
            <a:r>
              <a:t>• Realtime WebSocket latency stress tests (&lt;100ms).</a:t>
            </a:r>
          </a:p>
          <a:p>
            <a:pPr>
              <a:spcBef>
                <a:spcPts val="700"/>
              </a:spcBef>
              <a:defRPr sz="1000">
                <a:solidFill>
                  <a:srgbClr val="94A3B8"/>
                </a:solidFill>
              </a:defRPr>
            </a:pPr>
            <a:r>
              <a:t>• Full end-to-end patient journey verification.</a:t>
            </a:r>
          </a:p>
        </p:txBody>
      </p:sp>
      <p:sp>
        <p:nvSpPr>
          <p:cNvPr id="9" name="Rounded Rectangle 8"/>
          <p:cNvSpPr/>
          <p:nvPr/>
        </p:nvSpPr>
        <p:spPr>
          <a:xfrm>
            <a:off x="8961120" y="1463040"/>
            <a:ext cx="256032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59E0B"/>
                </a:solidFill>
              </a:defRPr>
            </a:pPr>
            <a:r>
              <a:t>PHASE 4 (FUTURE UPGRADES)</a:t>
            </a:r>
          </a:p>
          <a:p>
            <a:pPr>
              <a:spcBef>
                <a:spcPts val="400"/>
              </a:spcBef>
              <a:defRPr sz="1350" b="1">
                <a:solidFill>
                  <a:srgbClr val="F8FAFC"/>
                </a:solidFill>
              </a:defRPr>
            </a:pPr>
            <a:r>
              <a:t>IoT Vitals Pod &amp; National ABHA</a:t>
            </a:r>
          </a:p>
          <a:p>
            <a:pPr>
              <a:spcBef>
                <a:spcPts val="700"/>
              </a:spcBef>
              <a:defRPr sz="1000">
                <a:solidFill>
                  <a:srgbClr val="94A3B8"/>
                </a:solidFill>
              </a:defRPr>
            </a:pPr>
            <a:r>
              <a:t>• IoT Diagnostic Vitals Pod: Automated BP cuff, SpO2 &amp; IR Thermometer integrated into kiosk.</a:t>
            </a:r>
          </a:p>
          <a:p>
            <a:pPr>
              <a:spcBef>
                <a:spcPts val="700"/>
              </a:spcBef>
              <a:defRPr sz="1000">
                <a:solidFill>
                  <a:srgbClr val="94A3B8"/>
                </a:solidFill>
              </a:defRPr>
            </a:pPr>
            <a:r>
              <a:t>• Drug-Allergy &amp; Contradiction AI Detection engine.</a:t>
            </a:r>
          </a:p>
          <a:p>
            <a:pPr>
              <a:spcBef>
                <a:spcPts val="700"/>
              </a:spcBef>
              <a:defRPr sz="1000">
                <a:solidFill>
                  <a:srgbClr val="94A3B8"/>
                </a:solidFill>
              </a:defRPr>
            </a:pPr>
            <a:r>
              <a:t>• National ABHA / ABDM health locker auto-sync.</a:t>
            </a:r>
          </a:p>
          <a:p>
            <a:pPr>
              <a:spcBef>
                <a:spcPts val="700"/>
              </a:spcBef>
              <a:defRPr sz="1000">
                <a:solidFill>
                  <a:srgbClr val="94A3B8"/>
                </a:solidFill>
              </a:defRPr>
            </a:pPr>
            <a:r>
              <a:t>• District Epidemiological Outbreak AI Heatmaps.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