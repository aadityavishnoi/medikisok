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Built &amp; working</c:v>
                </c:pt>
              </c:strCache>
            </c:strRef>
          </c:tx>
          <c:spPr>
            <a:solidFill>
              <a:srgbClr val="2E9E5B"/>
            </a:solidFill>
          </c:spPr>
          <c:dLbls>
            <c:numFmt formatCode="0;;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  History engine</c:v>
                </c:pt>
                <c:pt idx="1">
                  <c:v>B  Documents</c:v>
                </c:pt>
                <c:pt idx="2">
                  <c:v>C  Summary</c:v>
                </c:pt>
                <c:pt idx="3">
                  <c:v>D  Consent &amp; ABDM</c:v>
                </c:pt>
                <c:pt idx="4">
                  <c:v>Accessibility &amp; patient login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 / demo</c:v>
                </c:pt>
              </c:strCache>
            </c:strRef>
          </c:tx>
          <c:spPr>
            <a:solidFill>
              <a:srgbClr val="F2A93B"/>
            </a:solidFill>
          </c:spPr>
          <c:dLbls>
            <c:numFmt formatCode="0;;;" sourceLinked="0"/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  History engine</c:v>
                </c:pt>
                <c:pt idx="1">
                  <c:v>B  Documents</c:v>
                </c:pt>
                <c:pt idx="2">
                  <c:v>C  Summary</c:v>
                </c:pt>
                <c:pt idx="3">
                  <c:v>D  Consent &amp; ABDM</c:v>
                </c:pt>
                <c:pt idx="4">
                  <c:v>Accessibility &amp; patient login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9FB0C3"/>
            </a:solidFill>
          </c:spPr>
          <c:dLbls>
            <c:numFmt formatCode="0;;;" sourceLinked="0"/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  History engine</c:v>
                </c:pt>
                <c:pt idx="1">
                  <c:v>B  Documents</c:v>
                </c:pt>
                <c:pt idx="2">
                  <c:v>C  Summary</c:v>
                </c:pt>
                <c:pt idx="3">
                  <c:v>D  Consent &amp; ABDM</c:v>
                </c:pt>
                <c:pt idx="4">
                  <c:v>Accessibility &amp; patient login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FB0C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 min saved / patient</c:v>
                </c:pt>
              </c:strCache>
            </c:strRef>
          </c:tx>
          <c:spPr>
            <a:solidFill>
              <a:srgbClr val="0070C0"/>
            </a:solidFill>
          </c:spPr>
          <c:dLbls>
            <c:txPr>
              <a:bodyPr/>
              <a:lstStyle/>
              <a:p>
                <a:pPr>
                  <a:defRPr sz="10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4,000 / day</c:v>
                </c:pt>
                <c:pt idx="1">
                  <c:v>7,000 / day</c:v>
                </c:pt>
                <c:pt idx="2">
                  <c:v>10,000 / 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</c:v>
                </c:pt>
                <c:pt idx="1">
                  <c:v>117</c:v>
                </c:pt>
                <c:pt idx="2">
                  <c:v>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min saved / patient</c:v>
                </c:pt>
              </c:strCache>
            </c:strRef>
          </c:tx>
          <c:spPr>
            <a:solidFill>
              <a:srgbClr val="E8802A"/>
            </a:solidFill>
          </c:spPr>
          <c:dLbls>
            <c:txPr>
              <a:bodyPr/>
              <a:lstStyle/>
              <a:p>
                <a:pPr>
                  <a:defRPr sz="10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4,000 / day</c:v>
                </c:pt>
                <c:pt idx="1">
                  <c:v>7,000 / day</c:v>
                </c:pt>
                <c:pt idx="2">
                  <c:v>10,000 / day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133</c:v>
                </c:pt>
                <c:pt idx="1">
                  <c:v>233</c:v>
                </c:pt>
                <c:pt idx="2">
                  <c:v>333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FB0C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sih.gov.in" TargetMode="External"/><Relationship Id="rId5" Type="http://schemas.openxmlformats.org/officeDocument/2006/relationships/hyperlink" Target="https://doi.org/10.1136/bmjopen-2017-017902" TargetMode="External"/><Relationship Id="rId6" Type="http://schemas.openxmlformats.org/officeDocument/2006/relationships/hyperlink" Target="https://abdm.gov.in" TargetMode="External"/><Relationship Id="rId7" Type="http://schemas.openxmlformats.org/officeDocument/2006/relationships/hyperlink" Target="https://nrces.in" TargetMode="External"/><Relationship Id="rId8" Type="http://schemas.openxmlformats.org/officeDocument/2006/relationships/hyperlink" Target="https://www.meity.gov.in/static/uploads/2024/06/2bf1f0e9f04e6fb4f8fef35e82c42aa5.pdf" TargetMode="External"/><Relationship Id="rId9" Type="http://schemas.openxmlformats.org/officeDocument/2006/relationships/hyperlink" Target="https://bhashini.gov.in" TargetMode="External"/><Relationship Id="rId10" Type="http://schemas.openxmlformats.org/officeDocument/2006/relationships/hyperlink" Target="https://janaushadhi.gov.in" TargetMode="External"/><Relationship Id="rId11" Type="http://schemas.openxmlformats.org/officeDocument/2006/relationships/hyperlink" Target="https://idsp.mohfw.gov.in" TargetMode="External"/><Relationship Id="rId12" Type="http://schemas.openxmlformats.org/officeDocument/2006/relationships/hyperlink" Target="https://github.com/OSSLibraries/Arduino_MFRC5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58368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6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2000" b="0">
                <a:solidFill>
                  <a:srgbClr val="1F497D"/>
                </a:solidFill>
                <a:latin typeface="Arial"/>
              </a:rPr>
              <a:t>26047</a:t>
            </a:r>
          </a:p>
          <a:p>
            <a:pPr marL="285750" indent="-285750" algn="l">
              <a:lnSpc>
                <a:spcPct val="16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2000" b="0">
                <a:solidFill>
                  <a:srgbClr val="1F497D"/>
                </a:solidFill>
                <a:latin typeface="Arial"/>
              </a:rPr>
              <a:t>Patient Case-Taking Software</a:t>
            </a:r>
          </a:p>
          <a:p>
            <a:pPr marL="285750" indent="-285750" algn="l">
              <a:lnSpc>
                <a:spcPct val="16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2000" b="0">
                <a:solidFill>
                  <a:srgbClr val="1F497D"/>
                </a:solidFill>
                <a:latin typeface="Arial"/>
              </a:rPr>
              <a:t>MedTech / BioTech / HealthTech</a:t>
            </a:r>
          </a:p>
          <a:p>
            <a:pPr marL="285750" indent="-285750" algn="l">
              <a:lnSpc>
                <a:spcPct val="16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2000" b="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6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</a:p>
          <a:p>
            <a:pPr marL="285750" indent="-285750" algn="l">
              <a:lnSpc>
                <a:spcPct val="16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2000" b="0">
                <a:solidFill>
                  <a:srgbClr val="1F497D"/>
                </a:solidFill>
                <a:latin typeface="Arial"/>
              </a:rPr>
              <a:t>TrishulX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806440" y="5285232"/>
            <a:ext cx="45720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1F497D"/>
                </a:solidFill>
                <a:latin typeface="Arial"/>
              </a:rPr>
              <a:t>MediKiosk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576072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Arial"/>
              </a:rPr>
              <a:t>AI Voice &amp; Touch Clinical History Kiosk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>
                <a:solidFill>
                  <a:srgbClr val="1F497D"/>
                </a:solidFill>
              </a:rPr>
              <a:t>TrishulX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15568"/>
            <a:ext cx="11430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MediKiosk – AI Voice &amp; Touch Clinical History Kiosk with Medical Document OCR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600200"/>
            <a:ext cx="11430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F497D"/>
                </a:solidFill>
                <a:latin typeface="Arial"/>
              </a:rPr>
              <a:t>❖ </a:t>
            </a:r>
            <a:r>
              <a:rPr sz="16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956816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5" name="Pentagon 15364"/>
          <p:cNvSpPr/>
          <p:nvPr/>
        </p:nvSpPr>
        <p:spPr>
          <a:xfrm>
            <a:off x="365760" y="2286000"/>
            <a:ext cx="2194560" cy="384048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1  Identify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65760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RFID tap (card holds no health data) or mobile OTP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13 languages · audio-guided consent</a:t>
            </a:r>
          </a:p>
        </p:txBody>
      </p:sp>
      <p:sp>
        <p:nvSpPr>
          <p:cNvPr id="15367" name="Pentagon 15366"/>
          <p:cNvSpPr/>
          <p:nvPr/>
        </p:nvSpPr>
        <p:spPr>
          <a:xfrm>
            <a:off x="2679191" y="2286000"/>
            <a:ext cx="2194560" cy="384048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  Converse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679191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 marL="146304" indent="-146304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Adaptive history by voice or touch</a:t>
            </a:r>
          </a:p>
          <a:p>
            <a:pPr algn="l" marL="146304" indent="-146304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AYUSH mode · instant red-flag alert</a:t>
            </a:r>
          </a:p>
        </p:txBody>
      </p:sp>
      <p:sp>
        <p:nvSpPr>
          <p:cNvPr id="15369" name="Pentagon 15368"/>
          <p:cNvSpPr/>
          <p:nvPr/>
        </p:nvSpPr>
        <p:spPr>
          <a:xfrm>
            <a:off x="4992624" y="2286000"/>
            <a:ext cx="2194560" cy="384048"/>
          </a:xfrm>
          <a:prstGeom prst="homePlate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3  Scan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992624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 marL="146304" indent="-146304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Camera OCR of Rx, labs, discharge notes</a:t>
            </a:r>
          </a:p>
          <a:p>
            <a:pPr algn="l" marL="146304" indent="-146304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Meds, doses, lab values marked ‘needs verification’</a:t>
            </a:r>
          </a:p>
        </p:txBody>
      </p:sp>
      <p:sp>
        <p:nvSpPr>
          <p:cNvPr id="15371" name="Pentagon 15370"/>
          <p:cNvSpPr/>
          <p:nvPr/>
        </p:nvSpPr>
        <p:spPr>
          <a:xfrm>
            <a:off x="7306056" y="2286000"/>
            <a:ext cx="2194560" cy="384048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4  Summarise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7306056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Structured summary + medical timeline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Live on doctor’s screen via WebSocket</a:t>
            </a:r>
          </a:p>
        </p:txBody>
      </p:sp>
      <p:sp>
        <p:nvSpPr>
          <p:cNvPr id="15373" name="Pentagon 15372"/>
          <p:cNvSpPr/>
          <p:nvPr/>
        </p:nvSpPr>
        <p:spPr>
          <a:xfrm>
            <a:off x="9619488" y="2286000"/>
            <a:ext cx="2194560" cy="384048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5  Consult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9619488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" bIns="27432"/>
          <a:lstStyle/>
          <a:p>
            <a:pPr algn="l" marL="146304" indent="-146304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Doctor edits / accepts / rejects</a:t>
            </a:r>
          </a:p>
          <a:p>
            <a:pPr algn="l" marL="146304" indent="-146304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Rx-safety alerts · FHIR-ready record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65760" y="3858768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65760" y="41879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2–5 min consults; history skipped</a:t>
            </a:r>
          </a:p>
        </p:txBody>
      </p:sp>
      <p:sp>
        <p:nvSpPr>
          <p:cNvPr id="15377" name="Right Arrow 15376"/>
          <p:cNvSpPr/>
          <p:nvPr/>
        </p:nvSpPr>
        <p:spPr>
          <a:xfrm>
            <a:off x="2606040" y="427939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2852928" y="418795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History taken before the visit; doctor reads it in seconds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365760" y="459943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Paper records, in no order</a:t>
            </a:r>
          </a:p>
        </p:txBody>
      </p:sp>
      <p:sp>
        <p:nvSpPr>
          <p:cNvPr id="15380" name="Right Arrow 15379"/>
          <p:cNvSpPr/>
          <p:nvPr/>
        </p:nvSpPr>
        <p:spPr>
          <a:xfrm>
            <a:off x="2606040" y="469087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5381" name="Rounded Rectangle 15380"/>
          <p:cNvSpPr/>
          <p:nvPr/>
        </p:nvSpPr>
        <p:spPr>
          <a:xfrm>
            <a:off x="2852928" y="459943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Camera OCR → meds, labs, diagnoses on a timeline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65760" y="501091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Apps exclude elderly / rural users</a:t>
            </a:r>
          </a:p>
        </p:txBody>
      </p:sp>
      <p:sp>
        <p:nvSpPr>
          <p:cNvPr id="15383" name="Right Arrow 15382"/>
          <p:cNvSpPr/>
          <p:nvPr/>
        </p:nvSpPr>
        <p:spPr>
          <a:xfrm>
            <a:off x="2606040" y="510235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2852928" y="501091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Kiosk: voice + touch, RFID tap, 13 languages, audio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365760" y="542239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Emergencies wait in the queue</a:t>
            </a:r>
          </a:p>
        </p:txBody>
      </p:sp>
      <p:sp>
        <p:nvSpPr>
          <p:cNvPr id="15386" name="Right Arrow 15385"/>
          <p:cNvSpPr/>
          <p:nvPr/>
        </p:nvSpPr>
        <p:spPr>
          <a:xfrm>
            <a:off x="2606040" y="551383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2852928" y="542239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Rule-based red flag → top of queue, instantly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365760" y="583387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AYUSH history too deep to finish</a:t>
            </a:r>
          </a:p>
        </p:txBody>
      </p:sp>
      <p:sp>
        <p:nvSpPr>
          <p:cNvPr id="15389" name="Right Arrow 15388"/>
          <p:cNvSpPr/>
          <p:nvPr/>
        </p:nvSpPr>
        <p:spPr>
          <a:xfrm>
            <a:off x="2606040" y="592531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2852928" y="583387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Dashavidha Pariksha interview mode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6629400" y="3858768"/>
            <a:ext cx="5212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6629400" y="4187952"/>
            <a:ext cx="521208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46304" indent="-146304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Patient-driven history + document digitisation in ONE flow – beyond admin check-in</a:t>
            </a:r>
          </a:p>
          <a:p>
            <a:pPr algn="l" marL="146304" indent="-146304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Safety path is rule-based: no LLM decides emergencies</a:t>
            </a:r>
          </a:p>
          <a:p>
            <a:pPr algn="l" marL="146304" indent="-146304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Every question answerable by voice OR touch – zero training</a:t>
            </a:r>
          </a:p>
          <a:p>
            <a:pPr algn="l" marL="146304" indent="-146304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Allopathic and AYUSH question trees in one engine</a:t>
            </a:r>
          </a:p>
          <a:p>
            <a:pPr algn="l" marL="146304" indent="-146304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Privacy-by-design: RFID card stores only a random ID; consent gates all data</a:t>
            </a:r>
          </a:p>
          <a:p>
            <a:pPr algn="l" marL="146304" indent="-146304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Same data feeds Rx-safety (NLEM 2022, Jan Aushadhi) and regional surveillance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>
                <a:solidFill>
                  <a:srgbClr val="1F497D"/>
                </a:solidFill>
              </a:rPr>
              <a:t>TrishulX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45262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100" b="1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9164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417320" y="169164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React 18, TypeScript, Vite, Tailwind CSS; Capacitor for the Android patient app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233172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417320" y="233172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Node.js, Express, Socket.IO (real-time alerts), Prisma ORM, Zod validation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297180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417320" y="297180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CockroachDB (PostgreSQL-compatible); multi-hospital, consent-aware schema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61188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Clinical AI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1417320" y="361188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JSON clinical question trees + deterministic red-flag rules; NLEM-based Rx-safety engine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425196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Speech &amp; OCR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417320" y="425196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Web Speech API for voice in/out (Bhashini planned); Gemini Vision OCR with safe fallback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65760" y="489204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Hardware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417320" y="489204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Arduino Nano + MFRC522 RFID reader (USB serial); touchscreen PC / tablet; camera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553212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Standards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417320" y="553212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FHIR R4 (ABDM / NRCeS profiles, demo mode); REST + WebSocket APIs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120640" y="1170432"/>
            <a:ext cx="6720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100" b="1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120640" y="1719072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RFID / OTP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120640" y="2103120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Voice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120640" y="2487168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Touch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120640" y="2871215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Camera scan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6336792" y="2331720"/>
            <a:ext cx="201168" cy="237744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6565392" y="1719072"/>
            <a:ext cx="1371600" cy="146304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Patient Kiosk &amp; Android App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React · Capacitor
idle-timeout guard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7964423" y="2331720"/>
            <a:ext cx="201168" cy="237744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8193023" y="1719072"/>
            <a:ext cx="1508760" cy="14630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API + WebSocket hub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Express · Socket.IO
consent gate · audit log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9729216" y="2331720"/>
            <a:ext cx="201168" cy="237744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9957816" y="1719072"/>
            <a:ext cx="1883664" cy="43891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Clinical engine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question trees + red-flag rules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957816" y="2231136"/>
            <a:ext cx="1883664" cy="43891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Document OCR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Gemini Vision + fallback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957816" y="2743200"/>
            <a:ext cx="1883664" cy="43891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Rx-safety + surveillance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NLEM 2022 · outbreak signals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120640" y="3310128"/>
            <a:ext cx="6720840" cy="384048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C62828"/>
                </a:solidFill>
                <a:latin typeface="Arial"/>
              </a:rPr>
              <a:t>EMERGENCY PATH: 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risky answer → rule-based red flag → instant alert → top of doctor queue (no LLM)</a:t>
            </a:r>
          </a:p>
        </p:txBody>
      </p:sp>
      <p:sp>
        <p:nvSpPr>
          <p:cNvPr id="17439" name="Down Arrow 17438"/>
          <p:cNvSpPr/>
          <p:nvPr/>
        </p:nvSpPr>
        <p:spPr>
          <a:xfrm>
            <a:off x="8366759" y="3703320"/>
            <a:ext cx="201168" cy="118872"/>
          </a:xfrm>
          <a:prstGeom prst="down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5120640" y="3822191"/>
            <a:ext cx="6720840" cy="365760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CockroachDB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patients · sessions · consent · history · documents · timeline · queues · prescriptions</a:t>
            </a:r>
          </a:p>
        </p:txBody>
      </p:sp>
      <p:sp>
        <p:nvSpPr>
          <p:cNvPr id="17441" name="Down Arrow 17440"/>
          <p:cNvSpPr/>
          <p:nvPr/>
        </p:nvSpPr>
        <p:spPr>
          <a:xfrm>
            <a:off x="8366759" y="4206240"/>
            <a:ext cx="201168" cy="201168"/>
          </a:xfrm>
          <a:prstGeom prst="down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5120640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Doctor dashboard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queue · Patient 360 · summary review · Rx writer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821424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Patient portal + app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records · prescriptions · OTP login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522208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Hospital &amp; central admin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queues · device health · signals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10222992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FHIR R4 adapter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→ ABDM (demo mode today)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120640" y="5440680"/>
            <a:ext cx="1600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7 + 1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front-end apps + real-time backend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821424" y="5440680"/>
            <a:ext cx="1600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6 + AYUSH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clinical question pathways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522208" y="5440680"/>
            <a:ext cx="1600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13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Indian languages in patient UI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10222992" y="5440680"/>
            <a:ext cx="1600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NLEM 2022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basis of Rx-safety catalogue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>
                <a:solidFill>
                  <a:srgbClr val="1F497D"/>
                </a:solidFill>
              </a:rPr>
              <a:t>TrishulX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4447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Problem-statement requirements vs. working prototype (23 items, our own code audit)</a:t>
            </a:r>
          </a:p>
        </p:txBody>
      </p:sp>
      <p:graphicFrame>
        <p:nvGraphicFramePr>
          <p:cNvPr id="17412" name="Chart 17411"/>
          <p:cNvGraphicFramePr>
            <a:graphicFrameLocks noGrp="1"/>
          </p:cNvGraphicFramePr>
          <p:nvPr/>
        </p:nvGraphicFramePr>
        <p:xfrm>
          <a:off x="365760" y="1691640"/>
          <a:ext cx="548640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365760" y="4315968"/>
            <a:ext cx="5486400" cy="1965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46304" indent="-146304">
              <a:spcAft>
                <a:spcPts val="400"/>
              </a:spcAft>
              <a:buClr>
                <a:srgbClr val="2E9E5B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Software-first: runs on a touchscreen PC / tablet + camera; RFID is a low-cost off-the-shelf module</a:t>
            </a:r>
          </a:p>
          <a:p>
            <a:pPr algn="l" marL="146304" indent="-146304">
              <a:spcAft>
                <a:spcPts val="400"/>
              </a:spcAft>
              <a:buClr>
                <a:srgbClr val="2E9E5B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Working full-stack prototype already built (7 front-end apps + real-time backend)</a:t>
            </a:r>
          </a:p>
          <a:p>
            <a:pPr algn="l" marL="146304" indent="-146304">
              <a:spcAft>
                <a:spcPts val="400"/>
              </a:spcAft>
              <a:buClr>
                <a:srgbClr val="2E9E5B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Speech, OCR and safety engines sit behind interfaces – swap in Bhashini or another OCR without redesign</a:t>
            </a:r>
          </a:p>
          <a:p>
            <a:pPr algn="l" marL="146304" indent="-146304">
              <a:spcAft>
                <a:spcPts val="400"/>
              </a:spcAft>
              <a:buClr>
                <a:srgbClr val="2E9E5B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REST + FHIR path lets it sit beside existing registration / HIS instead of replacing it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6080760" y="1170432"/>
          <a:ext cx="5742432" cy="3429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/>
                <a:gridCol w="350215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73152" marR="73152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73152" marR="73152" marT="36576" marB="36576" anchor="ctr">
                    <a:solidFill>
                      <a:srgbClr val="1F497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Speech accuracy in noisy wards / accents</a:t>
                      </a:r>
                    </a:p>
                  </a:txBody>
                  <a:tcPr marL="73152" marR="73152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Touch is always available; Bhashini / AI4Bharat models via pluggable speech interface</a:t>
                      </a:r>
                    </a:p>
                  </a:txBody>
                  <a:tcPr marL="73152" marR="73152" marT="36576" marB="36576" anchor="ctr">
                    <a:solidFill>
                      <a:srgbClr val="E6F4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OCR errors on handwriting</a:t>
                      </a:r>
                    </a:p>
                  </a:txBody>
                  <a:tcPr marL="73152" marR="73152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Confidence scores, ‘needs verification’ status, original image shown to doctor</a:t>
                      </a:r>
                    </a:p>
                  </a:txBody>
                  <a:tcPr marL="73152" marR="73152" marT="36576" marB="36576" anchor="ctr">
                    <a:solidFill>
                      <a:srgbClr val="E6F4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Data protection (DPDP Act 2023)</a:t>
                      </a:r>
                    </a:p>
                  </a:txBody>
                  <a:tcPr marL="73152" marR="73152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Consent-first flow, audit log, no health data on RFID card, role-based doctor login, idle timeout</a:t>
                      </a:r>
                    </a:p>
                  </a:txBody>
                  <a:tcPr marL="73152" marR="73152" marT="36576" marB="36576" anchor="ctr">
                    <a:solidFill>
                      <a:srgbClr val="E6F4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Clinical correctness of questions</a:t>
                      </a:r>
                    </a:p>
                  </a:txBody>
                  <a:tcPr marL="73152" marR="73152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Clinician-reviewed trees; doctor confirms every summary; AI never diagnoses</a:t>
                      </a:r>
                    </a:p>
                  </a:txBody>
                  <a:tcPr marL="73152" marR="73152" marT="36576" marB="36576" anchor="ctr">
                    <a:solidFill>
                      <a:srgbClr val="E6F4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A1A1A"/>
                          </a:solidFill>
                          <a:latin typeface="Arial"/>
                        </a:rPr>
                        <a:t>Adoption &amp; connectivity</a:t>
                      </a:r>
                    </a:p>
                  </a:txBody>
                  <a:tcPr marL="73152" marR="73152" marT="36576" marB="36576" anchor="ctr">
                    <a:solidFill>
                      <a:srgbClr val="FD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Commodity hardware, touch fallback, REST/FHIR fit beside existing HIS; offline mode on roadmap</a:t>
                      </a:r>
                    </a:p>
                  </a:txBody>
                  <a:tcPr marL="73152" marR="73152" marT="36576" marB="36576" anchor="ctr"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17415" name="TextBox 17414"/>
          <p:cNvSpPr txBox="1"/>
          <p:nvPr/>
        </p:nvSpPr>
        <p:spPr>
          <a:xfrm>
            <a:off x="6080760" y="4681728"/>
            <a:ext cx="57424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Phased rollout</a:t>
            </a:r>
          </a:p>
        </p:txBody>
      </p:sp>
      <p:sp>
        <p:nvSpPr>
          <p:cNvPr id="17416" name="Pentagon 17415"/>
          <p:cNvSpPr/>
          <p:nvPr/>
        </p:nvSpPr>
        <p:spPr>
          <a:xfrm>
            <a:off x="6080760" y="4956048"/>
            <a:ext cx="1417320" cy="329184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A – Strengthen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080760" y="5321808"/>
            <a:ext cx="1371600" cy="93268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Bhashini ASR · 13-language question banks · OCR accuracy benchmark</a:t>
            </a:r>
          </a:p>
        </p:txBody>
      </p:sp>
      <p:sp>
        <p:nvSpPr>
          <p:cNvPr id="17418" name="Pentagon 17417"/>
          <p:cNvSpPr/>
          <p:nvPr/>
        </p:nvSpPr>
        <p:spPr>
          <a:xfrm>
            <a:off x="7525512" y="4956048"/>
            <a:ext cx="1417320" cy="329184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B – Integrate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525512" y="5321808"/>
            <a:ext cx="1371600" cy="93268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Live ABDM / ABHA · FHIR bundles · HIS connectors</a:t>
            </a:r>
          </a:p>
        </p:txBody>
      </p:sp>
      <p:sp>
        <p:nvSpPr>
          <p:cNvPr id="17420" name="Pentagon 17419"/>
          <p:cNvSpPr/>
          <p:nvPr/>
        </p:nvSpPr>
        <p:spPr>
          <a:xfrm>
            <a:off x="8970264" y="4956048"/>
            <a:ext cx="1417320" cy="329184"/>
          </a:xfrm>
          <a:prstGeom prst="homePlate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C – Pilot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970264" y="5321808"/>
            <a:ext cx="1371600" cy="93268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OPD pilot · clinician validation · time-motion study</a:t>
            </a:r>
          </a:p>
        </p:txBody>
      </p:sp>
      <p:sp>
        <p:nvSpPr>
          <p:cNvPr id="17422" name="Pentagon 17421"/>
          <p:cNvSpPr/>
          <p:nvPr/>
        </p:nvSpPr>
        <p:spPr>
          <a:xfrm>
            <a:off x="10415016" y="4956048"/>
            <a:ext cx="1417320" cy="329184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D – Scale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10415016" y="5321808"/>
            <a:ext cx="1371600" cy="93268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27432" bIns="27432"/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Vitals pod · sign-language avatar · offline mode · state rollout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>
                <a:solidFill>
                  <a:srgbClr val="1F497D"/>
                </a:solidFill>
              </a:rPr>
              <a:t>TrishulX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1F497D"/>
                </a:solidFill>
                <a:latin typeface="Arial"/>
              </a:rPr>
              <a:t>4,000–10,000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OPD patients per day in tertiary hospitals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42462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1F497D"/>
                </a:solidFill>
                <a:latin typeface="Arial"/>
              </a:rPr>
              <a:t>2–5 min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typical doctor time per patient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19164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1F497D"/>
                </a:solidFill>
                <a:latin typeface="Arial"/>
              </a:rPr>
              <a:t>70–80%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of diagnoses possible from a good history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95867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E8802A"/>
                </a:solidFill>
                <a:latin typeface="Arial"/>
              </a:rPr>
              <a:t>13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Indian languages in the patient interface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2103120"/>
            <a:ext cx="3840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65760" y="2724912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41248" y="2633472"/>
            <a:ext cx="34290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Patients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Shorter waits; history recorded in their own language; records kept digitally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65760" y="3401568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41248" y="3310128"/>
            <a:ext cx="34290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Doctors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Complete structured history on arrival; more time to examine and counsel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365760" y="4078224"/>
            <a:ext cx="384048" cy="384048"/>
          </a:xfrm>
          <a:prstGeom prst="ellipse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41248" y="3986784"/>
            <a:ext cx="34290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Nurses &amp; admins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Less registration / transcription work; emergencies flagged in real time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365760" y="4754880"/>
            <a:ext cx="384048" cy="38404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1248" y="4663440"/>
            <a:ext cx="34290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AYUSH vaidyas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Dashavidha Pariksha captured without eating into consult time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365760" y="543153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41248" y="5340096"/>
            <a:ext cx="342900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Health system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Structured, consented data for ABDM and public-health surveillance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434840" y="2103120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Projected doctor-hours freed per day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434840" y="237744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= patients per day × minutes saved ÷ 60. Assumption: 1–2 min of history-taking saved per patient (to be validated in pilot)</a:t>
            </a:r>
          </a:p>
        </p:txBody>
      </p:sp>
      <p:graphicFrame>
        <p:nvGraphicFramePr>
          <p:cNvPr id="17427" name="Chart 17426"/>
          <p:cNvGraphicFramePr>
            <a:graphicFrameLocks noGrp="1"/>
          </p:cNvGraphicFramePr>
          <p:nvPr/>
        </p:nvGraphicFramePr>
        <p:xfrm>
          <a:off x="4434840" y="2880360"/>
          <a:ext cx="365760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28" name="TextBox 17427"/>
          <p:cNvSpPr txBox="1"/>
          <p:nvPr/>
        </p:nvSpPr>
        <p:spPr>
          <a:xfrm>
            <a:off x="8321040" y="2103120"/>
            <a:ext cx="35204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321040" y="2633472"/>
            <a:ext cx="3502152" cy="105156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8394192" y="2706624"/>
            <a:ext cx="1234440" cy="237744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394192" y="2980944"/>
            <a:ext cx="3383280" cy="6857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Clr>
                <a:srgbClr val="2E9E5B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Inclusive for elderly, rural and low-literacy patients</a:t>
            </a:r>
          </a:p>
          <a:p>
            <a:pPr algn="l" marL="146304" indent="-146304">
              <a:spcAft>
                <a:spcPts val="200"/>
              </a:spcAft>
              <a:buClr>
                <a:srgbClr val="2E9E5B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Earlier detection of emergencies</a:t>
            </a:r>
          </a:p>
          <a:p>
            <a:pPr algn="l" marL="146304" indent="-146304">
              <a:spcAft>
                <a:spcPts val="200"/>
              </a:spcAft>
              <a:buClr>
                <a:srgbClr val="2E9E5B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Same access in 13 languages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321040" y="3776472"/>
            <a:ext cx="3502152" cy="105156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8394192" y="3849624"/>
            <a:ext cx="1234440" cy="23774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94192" y="4123944"/>
            <a:ext cx="3383280" cy="6857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Doctor-hours freed (see chart)</a:t>
            </a:r>
          </a:p>
          <a:p>
            <a:pPr algn="l" marL="146304" indent="-146304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Low-cost commodity hardware</a:t>
            </a:r>
          </a:p>
          <a:p>
            <a:pPr algn="l" marL="146304" indent="-146304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Cheaper Jan Aushadhi generics suggested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321040" y="4919472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8394192" y="4992624"/>
            <a:ext cx="1234440" cy="237744"/>
          </a:xfrm>
          <a:prstGeom prst="roundRect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394192" y="5266944"/>
            <a:ext cx="3383280" cy="502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146304" indent="-146304">
              <a:spcAft>
                <a:spcPts val="200"/>
              </a:spcAft>
              <a:buClr>
                <a:srgbClr val="E8802A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Paperless intake and digital records</a:t>
            </a:r>
          </a:p>
          <a:p>
            <a:pPr algn="l" marL="146304" indent="-146304">
              <a:spcAft>
                <a:spcPts val="200"/>
              </a:spcAft>
              <a:buClr>
                <a:srgbClr val="E8802A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Less paper for forms and repeated history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65760" y="6053328"/>
            <a:ext cx="11430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Sources: SIH 2026 problem statement 26047 (volumes, consultation time, 70–80% figure); doctor-hours chart is simple arithmetic on those volumes, not a measured result.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>
                <a:solidFill>
                  <a:srgbClr val="1F497D"/>
                </a:solidFill>
              </a:rPr>
              <a:t>TrishulX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114300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3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365760" y="1572768"/>
          <a:ext cx="11457432" cy="4178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"/>
                <a:gridCol w="5120640"/>
                <a:gridCol w="2880360"/>
                <a:gridCol w="3090672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Reference / source</a:t>
                      </a:r>
                    </a:p>
                  </a:txBody>
                  <a:tcPr marL="54864" marR="5486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Link</a:t>
                      </a:r>
                    </a:p>
                  </a:txBody>
                  <a:tcPr marL="54864" marR="54864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How we used it</a:t>
                      </a:r>
                    </a:p>
                  </a:txBody>
                  <a:tcPr marL="54864" marR="54864" anchor="ctr">
                    <a:solidFill>
                      <a:srgbClr val="1F497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SIH 2026 Problem Statement 26047 – Patient Case-Taking Software (Ministry of Ayush / All India Institute of Ayurveda)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4"/>
                        </a:rPr>
                        <a:t>sih.gov.in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Problem scope, four modules, patient journey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Irving G, et al. International variations in primary care physician consultation time: a systematic review of 67 countries. BMJ Open 2017;7:e017902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5"/>
                        </a:rPr>
                        <a:t>doi.org/10.1136/bmjopen-2017-017902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Evidence behind the short-consultation problem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Ayushman Bharat Digital Mission – National Health Authority (ABHA, Health Information Exchange)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6"/>
                        </a:rPr>
                        <a:t>abdm.gov.in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ABHA ID field; consent and interoperability roadmap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National Resource Centre for EHR Standards – ABDM FHIR R4 profiles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7"/>
                        </a:rPr>
                        <a:t>nrces.in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Patient / Encounter resource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Digital Personal Data Protection Act, 2023 (MeitY)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8"/>
                        </a:rPr>
                        <a:t>meity.gov.in – DPDP Act 2023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Consent-first design, data minimisation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Bhashini and AI4Bharat – Indian-language speech (ASR / TTS) models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9"/>
                        </a:rPr>
                        <a:t>bhashini.gov.in · ai4bharat.org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Planned upgrade of the pluggable speech interface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National List of Essential Medicines 2022 (MoHFW); PM Bharatiya Janaushadhi Pariyojana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10"/>
                        </a:rPr>
                        <a:t>mohfw.gov.in · janaushadhi.gov.in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Rx-safety catalogue; generic alternatives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Integrated Disease Surveillance Programme (NCDC, MoHFW)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11"/>
                        </a:rPr>
                        <a:t>idsp.mohfw.gov.in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Data model for regional outbreak signals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W3C Web Speech API; Arduino MFRC522 library; Google Gemini API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u="sng">
                          <a:solidFill>
                            <a:srgbClr val="0070C0"/>
                          </a:solidFill>
                          <a:latin typeface="Arial"/>
                          <a:hlinkClick r:id="rId12"/>
                        </a:rPr>
                        <a:t>wicg.github.io/speech-api · github.com/OSSLibraries/Arduino_MFRC522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Voice I/O, RFID reader firmware, vision OCR</a:t>
                      </a:r>
                    </a:p>
                  </a:txBody>
                  <a:tcPr marL="54864" marR="54864" marT="27432" marB="27432" anchor="ctr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17412" name="TextBox 17411"/>
          <p:cNvSpPr txBox="1"/>
          <p:nvPr/>
        </p:nvSpPr>
        <p:spPr>
          <a:xfrm>
            <a:off x="365760" y="5998464"/>
            <a:ext cx="11430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Prototype status figures on slide 4 come from our own code audit. Volumes and consultation-time figures come from the problem statement and the BMJ Open review above.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Aaditya Vishnoi</cp:lastModifiedBy>
  <cp:revision>148</cp:revision>
  <dcterms:created xsi:type="dcterms:W3CDTF">2013-12-12T18:46:50Z</dcterms:created>
  <dcterms:modified xsi:type="dcterms:W3CDTF">2026-09-21T04:16:24Z</dcterms:modified>
  <cp:category/>
</cp:coreProperties>
</file>