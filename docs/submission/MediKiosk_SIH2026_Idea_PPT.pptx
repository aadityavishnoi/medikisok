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7"/>
  </p:notesMasterIdLst>
  <p:sldIdLst>
    <p:sldId id="291" r:id="rId2"/>
    <p:sldId id="290" r:id="rId3"/>
    <p:sldId id="293" r:id="rId4"/>
    <p:sldId id="294" r:id="rId5"/>
    <p:sldId id="296" r:id="rId6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7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Built &amp; working</c:v>
                </c:pt>
              </c:strCache>
            </c:strRef>
          </c:tx>
          <c:spPr>
            <a:solidFill>
              <a:srgbClr val="2E9E5B"/>
            </a:solidFill>
          </c:spPr>
          <c:invertIfNegative val="1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  History engine</c:v>
                </c:pt>
                <c:pt idx="1">
                  <c:v>B  Documents</c:v>
                </c:pt>
                <c:pt idx="2">
                  <c:v>C  Summary</c:v>
                </c:pt>
                <c:pt idx="3">
                  <c:v>D  Consent &amp; ABDM</c:v>
                </c:pt>
                <c:pt idx="4">
                  <c:v>Accessibility &amp; patient login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F58-4996-B2FA-39C49F39A2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Partial / demo</c:v>
                </c:pt>
              </c:strCache>
            </c:strRef>
          </c:tx>
          <c:spPr>
            <a:solidFill>
              <a:srgbClr val="F2A93B"/>
            </a:solidFill>
          </c:spPr>
          <c:invertIfNegative val="1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1A1A1A"/>
                    </a:solidFill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  History engine</c:v>
                </c:pt>
                <c:pt idx="1">
                  <c:v>B  Documents</c:v>
                </c:pt>
                <c:pt idx="2">
                  <c:v>C  Summary</c:v>
                </c:pt>
                <c:pt idx="3">
                  <c:v>D  Consent &amp; ABDM</c:v>
                </c:pt>
                <c:pt idx="4">
                  <c:v>Accessibility &amp; patient login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8F58-4996-B2FA-39C49F39A2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Planned</c:v>
                </c:pt>
              </c:strCache>
            </c:strRef>
          </c:tx>
          <c:spPr>
            <a:solidFill>
              <a:srgbClr val="9FB0C3"/>
            </a:solidFill>
          </c:spPr>
          <c:invertIfNegative val="1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1A1A1A"/>
                    </a:solidFill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  History engine</c:v>
                </c:pt>
                <c:pt idx="1">
                  <c:v>B  Documents</c:v>
                </c:pt>
                <c:pt idx="2">
                  <c:v>C  Summary</c:v>
                </c:pt>
                <c:pt idx="3">
                  <c:v>D  Consent &amp; ABDM</c:v>
                </c:pt>
                <c:pt idx="4">
                  <c:v>Accessibility &amp; patient login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2</c:v>
                </c:pt>
                <c:pt idx="2">
                  <c:v>0</c:v>
                </c:pt>
                <c:pt idx="3">
                  <c:v>2</c:v>
                </c:pt>
                <c:pt idx="4">
                  <c:v>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8F58-4996-B2FA-39C49F39A2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9FB0C3"/>
            </a:solidFill>
          </a:ln>
        </c:spPr>
        <c:txPr>
          <a:bodyPr/>
          <a:lstStyle/>
          <a:p>
            <a:pPr>
              <a:defRPr sz="10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"/>
        </c:scaling>
        <c:delete val="1"/>
        <c:axPos val="t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1 min saved / patient</c:v>
                </c:pt>
              </c:strCache>
            </c:strRef>
          </c:tx>
          <c:spPr>
            <a:solidFill>
              <a:srgbClr val="0070C0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4,000 / day</c:v>
                </c:pt>
                <c:pt idx="1">
                  <c:v>7,000 / day</c:v>
                </c:pt>
                <c:pt idx="2">
                  <c:v>10,000 / day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</c:v>
                </c:pt>
                <c:pt idx="1">
                  <c:v>117</c:v>
                </c:pt>
                <c:pt idx="2">
                  <c:v>167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CD6-4888-A7A5-C344833FE97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min saved / patient</c:v>
                </c:pt>
              </c:strCache>
            </c:strRef>
          </c:tx>
          <c:spPr>
            <a:solidFill>
              <a:srgbClr val="E8802A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4,000 / day</c:v>
                </c:pt>
                <c:pt idx="1">
                  <c:v>7,000 / day</c:v>
                </c:pt>
                <c:pt idx="2">
                  <c:v>10,000 / day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133</c:v>
                </c:pt>
                <c:pt idx="1">
                  <c:v>233</c:v>
                </c:pt>
                <c:pt idx="2">
                  <c:v>333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CD6-4888-A7A5-C344833FE9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9FB0C3"/>
            </a:solidFill>
          </a:ln>
        </c:spPr>
        <c:txPr>
          <a:bodyPr/>
          <a:lstStyle/>
          <a:p>
            <a:pPr>
              <a:defRPr sz="10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0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eity.gov.in/static/uploads/2024/06/2bf1f0e9f04e6fb4f8fef35e82c42aa5.pdf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nrces.in" TargetMode="External"/><Relationship Id="rId12" Type="http://schemas.openxmlformats.org/officeDocument/2006/relationships/hyperlink" Target="https://github.com/OSSLibraries/Arduino_MFRC522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bdm.gov.in" TargetMode="External"/><Relationship Id="rId11" Type="http://schemas.openxmlformats.org/officeDocument/2006/relationships/hyperlink" Target="https://idsp.mohfw.gov.in" TargetMode="External"/><Relationship Id="rId5" Type="http://schemas.openxmlformats.org/officeDocument/2006/relationships/hyperlink" Target="https://doi.org/10.1136/bmjopen-2017-017902" TargetMode="External"/><Relationship Id="rId10" Type="http://schemas.openxmlformats.org/officeDocument/2006/relationships/hyperlink" Target="https://janaushadhi.gov.in" TargetMode="External"/><Relationship Id="rId4" Type="http://schemas.openxmlformats.org/officeDocument/2006/relationships/hyperlink" Target="https://www.sih.gov.in" TargetMode="External"/><Relationship Id="rId9" Type="http://schemas.openxmlformats.org/officeDocument/2006/relationships/hyperlink" Target="https://bhashini.gov.i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6583680" cy="38556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165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sz="2000" b="0" dirty="0">
                <a:solidFill>
                  <a:srgbClr val="1F497D"/>
                </a:solidFill>
                <a:latin typeface="Arial"/>
              </a:rPr>
              <a:t>26047</a:t>
            </a:r>
          </a:p>
          <a:p>
            <a:pPr marL="285750" indent="-285750" algn="l">
              <a:lnSpc>
                <a:spcPct val="165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sz="2000" b="0" dirty="0">
                <a:solidFill>
                  <a:srgbClr val="1F497D"/>
                </a:solidFill>
                <a:latin typeface="Arial"/>
              </a:rPr>
              <a:t>Patient Case-Taking Software</a:t>
            </a:r>
          </a:p>
          <a:p>
            <a:pPr marL="285750" indent="-285750" algn="l">
              <a:lnSpc>
                <a:spcPct val="165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 – </a:t>
            </a:r>
            <a:r>
              <a:rPr sz="2000" b="0" dirty="0">
                <a:solidFill>
                  <a:srgbClr val="1F497D"/>
                </a:solidFill>
                <a:latin typeface="Arial"/>
              </a:rPr>
              <a:t>MedTech / </a:t>
            </a:r>
            <a:r>
              <a:rPr sz="2000" b="0" dirty="0" err="1">
                <a:solidFill>
                  <a:srgbClr val="1F497D"/>
                </a:solidFill>
                <a:latin typeface="Arial"/>
              </a:rPr>
              <a:t>BioTech</a:t>
            </a:r>
            <a:r>
              <a:rPr sz="2000" b="0" dirty="0">
                <a:solidFill>
                  <a:srgbClr val="1F497D"/>
                </a:solidFill>
                <a:latin typeface="Arial"/>
              </a:rPr>
              <a:t> / HealthTech</a:t>
            </a:r>
          </a:p>
          <a:p>
            <a:pPr marL="285750" indent="-285750" algn="l">
              <a:lnSpc>
                <a:spcPct val="165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 – </a:t>
            </a:r>
            <a:r>
              <a:rPr sz="2000" b="0" dirty="0">
                <a:solidFill>
                  <a:srgbClr val="1F497D"/>
                </a:solidFill>
                <a:latin typeface="Arial"/>
              </a:rPr>
              <a:t>Software</a:t>
            </a:r>
          </a:p>
          <a:p>
            <a:pPr marL="285750" indent="-285750" algn="l">
              <a:lnSpc>
                <a:spcPct val="165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 – </a:t>
            </a:r>
          </a:p>
          <a:p>
            <a:pPr marL="285750" indent="-285750" algn="l">
              <a:lnSpc>
                <a:spcPct val="165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 – </a:t>
            </a:r>
            <a:r>
              <a:rPr lang="en-US" sz="2000" dirty="0" err="1">
                <a:solidFill>
                  <a:srgbClr val="1F497D"/>
                </a:solidFill>
                <a:latin typeface="Arial"/>
                <a:cs typeface="Arial" panose="020B0604020202020204" pitchFamily="34" charset="0"/>
              </a:rPr>
              <a:t>CodeBloom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096000" y="5266384"/>
            <a:ext cx="457200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000" b="1" i="0" dirty="0" err="1">
                <a:solidFill>
                  <a:srgbClr val="1F497D"/>
                </a:solidFill>
                <a:latin typeface="Arial"/>
              </a:rPr>
              <a:t>MediKiosk</a:t>
            </a:r>
            <a:endParaRPr sz="3000" b="1" i="0" dirty="0">
              <a:solidFill>
                <a:srgbClr val="1F497D"/>
              </a:solidFill>
              <a:latin typeface="Arial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081190" y="5750736"/>
            <a:ext cx="4572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400" b="0" i="0" dirty="0">
                <a:solidFill>
                  <a:srgbClr val="595959"/>
                </a:solidFill>
                <a:latin typeface="Arial"/>
              </a:rPr>
              <a:t>AI Voice &amp; Touch Clinical History Kiosk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 err="1"/>
              <a:t>CodeBloom</a:t>
            </a:r>
            <a:endParaRPr lang="en-IN" sz="1100" b="1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70432"/>
            <a:ext cx="452628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0" i="0">
                <a:solidFill>
                  <a:srgbClr val="E8802A"/>
                </a:solidFill>
                <a:latin typeface="Arial"/>
              </a:rPr>
              <a:t>■ </a:t>
            </a:r>
            <a:r>
              <a:rPr sz="1100" b="1" i="0">
                <a:solidFill>
                  <a:srgbClr val="1F497D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691640"/>
            <a:ext cx="1005840" cy="548640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Frontend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1417320" y="1691640"/>
            <a:ext cx="3474720" cy="548640"/>
          </a:xfrm>
          <a:prstGeom prst="roundRect">
            <a:avLst>
              <a:gd name="adj" fmla="val 8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React 18, TypeScript, Vite, Tailwind CSS; Capacitor for the Android patient app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65760" y="2331720"/>
            <a:ext cx="1005840" cy="548640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Backend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1417320" y="2331720"/>
            <a:ext cx="3474720" cy="548640"/>
          </a:xfrm>
          <a:prstGeom prst="roundRect">
            <a:avLst>
              <a:gd name="adj" fmla="val 8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Node.js, Express, Socket.IO (real-time alerts), Prisma ORM, Zod validation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65760" y="2971800"/>
            <a:ext cx="1005840" cy="548640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Database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1417320" y="2971800"/>
            <a:ext cx="3474720" cy="548640"/>
          </a:xfrm>
          <a:prstGeom prst="roundRect">
            <a:avLst>
              <a:gd name="adj" fmla="val 8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CockroachDB (PostgreSQL-compatible); multi-hospital, consent-aware schema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65760" y="3611880"/>
            <a:ext cx="1005840" cy="548640"/>
          </a:xfrm>
          <a:prstGeom prst="roundRect">
            <a:avLst>
              <a:gd name="adj" fmla="val 12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Clinical AI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1417320" y="3611880"/>
            <a:ext cx="3474720" cy="548640"/>
          </a:xfrm>
          <a:prstGeom prst="roundRect">
            <a:avLst>
              <a:gd name="adj" fmla="val 8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JSON clinical question trees + deterministic red-flag rules; NLEM-based Rx-safety engine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65760" y="4251960"/>
            <a:ext cx="1005840" cy="548640"/>
          </a:xfrm>
          <a:prstGeom prst="roundRect">
            <a:avLst>
              <a:gd name="adj" fmla="val 12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Speech &amp; OCR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1417320" y="4251960"/>
            <a:ext cx="3474720" cy="548640"/>
          </a:xfrm>
          <a:prstGeom prst="roundRect">
            <a:avLst>
              <a:gd name="adj" fmla="val 8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Web Speech API for voice in/out (Bhashini planned); Gemini Vision OCR with safe fallback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365760" y="4892040"/>
            <a:ext cx="1005840" cy="548640"/>
          </a:xfrm>
          <a:prstGeom prst="roundRect">
            <a:avLst>
              <a:gd name="adj" fmla="val 12000"/>
            </a:avLst>
          </a:prstGeom>
          <a:solidFill>
            <a:srgbClr val="E88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Hardware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1417320" y="4892040"/>
            <a:ext cx="3474720" cy="548640"/>
          </a:xfrm>
          <a:prstGeom prst="roundRect">
            <a:avLst>
              <a:gd name="adj" fmla="val 8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Arduino Nano + MFRC522 RFID reader (USB serial); touchscreen PC / tablet; camera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65760" y="5532120"/>
            <a:ext cx="1005840" cy="548640"/>
          </a:xfrm>
          <a:prstGeom prst="roundRect">
            <a:avLst>
              <a:gd name="adj" fmla="val 12000"/>
            </a:avLst>
          </a:prstGeom>
          <a:solidFill>
            <a:srgbClr val="E88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Standards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1417320" y="5532120"/>
            <a:ext cx="3474720" cy="548640"/>
          </a:xfrm>
          <a:prstGeom prst="roundRect">
            <a:avLst>
              <a:gd name="adj" fmla="val 8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FHIR R4 (ABDM / NRCeS profiles, demo mode); REST + WebSocket APIs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120640" y="1170432"/>
            <a:ext cx="672084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0" i="0">
                <a:solidFill>
                  <a:srgbClr val="E8802A"/>
                </a:solidFill>
                <a:latin typeface="Arial"/>
              </a:rPr>
              <a:t>■ </a:t>
            </a:r>
            <a:r>
              <a:rPr sz="1100" b="1" i="0">
                <a:solidFill>
                  <a:srgbClr val="1F497D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5120640" y="1719072"/>
            <a:ext cx="1188720" cy="310896"/>
          </a:xfrm>
          <a:prstGeom prst="roundRect">
            <a:avLst>
              <a:gd name="adj" fmla="val 20000"/>
            </a:avLst>
          </a:prstGeom>
          <a:solidFill>
            <a:srgbClr val="FDF1E4"/>
          </a:solidFill>
          <a:ln w="9525">
            <a:solidFill>
              <a:srgbClr val="E88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 i="0">
                <a:solidFill>
                  <a:srgbClr val="1A1A1A"/>
                </a:solidFill>
                <a:latin typeface="Arial"/>
              </a:rPr>
              <a:t>RFID / OTP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5120640" y="2103120"/>
            <a:ext cx="1188720" cy="310896"/>
          </a:xfrm>
          <a:prstGeom prst="roundRect">
            <a:avLst>
              <a:gd name="adj" fmla="val 20000"/>
            </a:avLst>
          </a:prstGeom>
          <a:solidFill>
            <a:srgbClr val="FDF1E4"/>
          </a:solidFill>
          <a:ln w="9525">
            <a:solidFill>
              <a:srgbClr val="E88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 i="0">
                <a:solidFill>
                  <a:srgbClr val="1A1A1A"/>
                </a:solidFill>
                <a:latin typeface="Arial"/>
              </a:rPr>
              <a:t>Voice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5120640" y="2487168"/>
            <a:ext cx="1188720" cy="310896"/>
          </a:xfrm>
          <a:prstGeom prst="roundRect">
            <a:avLst>
              <a:gd name="adj" fmla="val 20000"/>
            </a:avLst>
          </a:prstGeom>
          <a:solidFill>
            <a:srgbClr val="FDF1E4"/>
          </a:solidFill>
          <a:ln w="9525">
            <a:solidFill>
              <a:srgbClr val="E88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 i="0">
                <a:solidFill>
                  <a:srgbClr val="1A1A1A"/>
                </a:solidFill>
                <a:latin typeface="Arial"/>
              </a:rPr>
              <a:t>Touch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5120640" y="2871215"/>
            <a:ext cx="1188720" cy="310896"/>
          </a:xfrm>
          <a:prstGeom prst="roundRect">
            <a:avLst>
              <a:gd name="adj" fmla="val 20000"/>
            </a:avLst>
          </a:prstGeom>
          <a:solidFill>
            <a:srgbClr val="FDF1E4"/>
          </a:solidFill>
          <a:ln w="9525">
            <a:solidFill>
              <a:srgbClr val="E88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 i="0">
                <a:solidFill>
                  <a:srgbClr val="1A1A1A"/>
                </a:solidFill>
                <a:latin typeface="Arial"/>
              </a:rPr>
              <a:t>Camera scan</a:t>
            </a:r>
          </a:p>
        </p:txBody>
      </p:sp>
      <p:sp>
        <p:nvSpPr>
          <p:cNvPr id="17430" name="Right Arrow 17429"/>
          <p:cNvSpPr/>
          <p:nvPr/>
        </p:nvSpPr>
        <p:spPr>
          <a:xfrm>
            <a:off x="6336792" y="2331720"/>
            <a:ext cx="201168" cy="237744"/>
          </a:xfrm>
          <a:prstGeom prst="rightArrow">
            <a:avLst/>
          </a:prstGeom>
          <a:solidFill>
            <a:srgbClr val="9FB0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endParaRPr/>
          </a:p>
        </p:txBody>
      </p:sp>
      <p:sp>
        <p:nvSpPr>
          <p:cNvPr id="17431" name="Rounded Rectangle 17430"/>
          <p:cNvSpPr/>
          <p:nvPr/>
        </p:nvSpPr>
        <p:spPr>
          <a:xfrm>
            <a:off x="6565392" y="1719072"/>
            <a:ext cx="1371600" cy="146304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Patient Kiosk &amp; Android App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Arial"/>
              </a:rPr>
              <a:t>React · Capacitor
idle-timeout guard</a:t>
            </a:r>
          </a:p>
        </p:txBody>
      </p:sp>
      <p:sp>
        <p:nvSpPr>
          <p:cNvPr id="17432" name="Right Arrow 17431"/>
          <p:cNvSpPr/>
          <p:nvPr/>
        </p:nvSpPr>
        <p:spPr>
          <a:xfrm>
            <a:off x="7964423" y="2331720"/>
            <a:ext cx="201168" cy="237744"/>
          </a:xfrm>
          <a:prstGeom prst="rightArrow">
            <a:avLst/>
          </a:prstGeom>
          <a:solidFill>
            <a:srgbClr val="9FB0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endParaRPr/>
          </a:p>
        </p:txBody>
      </p:sp>
      <p:sp>
        <p:nvSpPr>
          <p:cNvPr id="17433" name="Rounded Rectangle 17432"/>
          <p:cNvSpPr/>
          <p:nvPr/>
        </p:nvSpPr>
        <p:spPr>
          <a:xfrm>
            <a:off x="8193023" y="1719072"/>
            <a:ext cx="1508760" cy="1463040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API + WebSocket hub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Arial"/>
              </a:rPr>
              <a:t>Express · Socket.IO
consent gate · audit log</a:t>
            </a:r>
          </a:p>
        </p:txBody>
      </p:sp>
      <p:sp>
        <p:nvSpPr>
          <p:cNvPr id="17434" name="Right Arrow 17433"/>
          <p:cNvSpPr/>
          <p:nvPr/>
        </p:nvSpPr>
        <p:spPr>
          <a:xfrm>
            <a:off x="9729216" y="2331720"/>
            <a:ext cx="201168" cy="237744"/>
          </a:xfrm>
          <a:prstGeom prst="rightArrow">
            <a:avLst/>
          </a:prstGeom>
          <a:solidFill>
            <a:srgbClr val="9FB0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endParaRPr/>
          </a:p>
        </p:txBody>
      </p:sp>
      <p:sp>
        <p:nvSpPr>
          <p:cNvPr id="17435" name="Rounded Rectangle 17434"/>
          <p:cNvSpPr/>
          <p:nvPr/>
        </p:nvSpPr>
        <p:spPr>
          <a:xfrm>
            <a:off x="9957816" y="1719072"/>
            <a:ext cx="1883664" cy="438912"/>
          </a:xfrm>
          <a:prstGeom prst="roundRect">
            <a:avLst>
              <a:gd name="adj" fmla="val 12000"/>
            </a:avLst>
          </a:prstGeom>
          <a:solidFill>
            <a:srgbClr val="E6F4EC"/>
          </a:solidFill>
          <a:ln w="9525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1000" b="1" i="0">
                <a:solidFill>
                  <a:srgbClr val="1A1A1A"/>
                </a:solidFill>
                <a:latin typeface="Arial"/>
              </a:rPr>
              <a:t>Clinical engine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Arial"/>
              </a:rPr>
              <a:t>question trees + red-flag rules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9957816" y="2231136"/>
            <a:ext cx="1883664" cy="438912"/>
          </a:xfrm>
          <a:prstGeom prst="roundRect">
            <a:avLst>
              <a:gd name="adj" fmla="val 12000"/>
            </a:avLst>
          </a:prstGeom>
          <a:solidFill>
            <a:srgbClr val="E6F4EC"/>
          </a:solidFill>
          <a:ln w="9525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1000" b="1" i="0">
                <a:solidFill>
                  <a:srgbClr val="1A1A1A"/>
                </a:solidFill>
                <a:latin typeface="Arial"/>
              </a:rPr>
              <a:t>Document OCR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Arial"/>
              </a:rPr>
              <a:t>Gemini Vision + fallback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9957816" y="2743200"/>
            <a:ext cx="1883664" cy="438912"/>
          </a:xfrm>
          <a:prstGeom prst="roundRect">
            <a:avLst>
              <a:gd name="adj" fmla="val 12000"/>
            </a:avLst>
          </a:prstGeom>
          <a:solidFill>
            <a:srgbClr val="E6F4EC"/>
          </a:solidFill>
          <a:ln w="9525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1000" b="1" i="0">
                <a:solidFill>
                  <a:srgbClr val="1A1A1A"/>
                </a:solidFill>
                <a:latin typeface="Arial"/>
              </a:rPr>
              <a:t>Rx-safety + surveillance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Arial"/>
              </a:rPr>
              <a:t>NLEM 2022 · outbreak signals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5120640" y="3310128"/>
            <a:ext cx="6720840" cy="384048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952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 i="0">
                <a:solidFill>
                  <a:srgbClr val="C62828"/>
                </a:solidFill>
                <a:latin typeface="Arial"/>
              </a:rPr>
              <a:t>EMERGENCY PATH:  </a:t>
            </a:r>
            <a:r>
              <a:rPr sz="1000" b="0" i="0">
                <a:solidFill>
                  <a:srgbClr val="1A1A1A"/>
                </a:solidFill>
                <a:latin typeface="Arial"/>
              </a:rPr>
              <a:t>risky answer → rule-based red flag → instant alert → top of doctor queue (no LLM)</a:t>
            </a:r>
          </a:p>
        </p:txBody>
      </p:sp>
      <p:sp>
        <p:nvSpPr>
          <p:cNvPr id="17439" name="Down Arrow 17438"/>
          <p:cNvSpPr/>
          <p:nvPr/>
        </p:nvSpPr>
        <p:spPr>
          <a:xfrm>
            <a:off x="8366759" y="3703320"/>
            <a:ext cx="201168" cy="118872"/>
          </a:xfrm>
          <a:prstGeom prst="downArrow">
            <a:avLst/>
          </a:prstGeom>
          <a:solidFill>
            <a:srgbClr val="9FB0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endParaRPr/>
          </a:p>
        </p:txBody>
      </p:sp>
      <p:sp>
        <p:nvSpPr>
          <p:cNvPr id="17440" name="Rounded Rectangle 17439"/>
          <p:cNvSpPr/>
          <p:nvPr/>
        </p:nvSpPr>
        <p:spPr>
          <a:xfrm>
            <a:off x="5120640" y="3822191"/>
            <a:ext cx="6720840" cy="365760"/>
          </a:xfrm>
          <a:prstGeom prst="roundRect">
            <a:avLst>
              <a:gd name="adj" fmla="val 20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CockroachDB  </a:t>
            </a:r>
            <a:r>
              <a:rPr sz="1000" b="0" i="0">
                <a:solidFill>
                  <a:srgbClr val="FFFFFF"/>
                </a:solidFill>
                <a:latin typeface="Arial"/>
              </a:rPr>
              <a:t>patients · sessions · consent · history · documents · timeline · queues · prescriptions</a:t>
            </a:r>
          </a:p>
        </p:txBody>
      </p:sp>
      <p:sp>
        <p:nvSpPr>
          <p:cNvPr id="17441" name="Down Arrow 17440"/>
          <p:cNvSpPr/>
          <p:nvPr/>
        </p:nvSpPr>
        <p:spPr>
          <a:xfrm>
            <a:off x="8366759" y="4206240"/>
            <a:ext cx="201168" cy="201168"/>
          </a:xfrm>
          <a:prstGeom prst="downArrow">
            <a:avLst/>
          </a:prstGeom>
          <a:solidFill>
            <a:srgbClr val="9FB0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endParaRPr/>
          </a:p>
        </p:txBody>
      </p:sp>
      <p:sp>
        <p:nvSpPr>
          <p:cNvPr id="17442" name="Rounded Rectangle 17441"/>
          <p:cNvSpPr/>
          <p:nvPr/>
        </p:nvSpPr>
        <p:spPr>
          <a:xfrm>
            <a:off x="5120640" y="4434840"/>
            <a:ext cx="1600200" cy="868680"/>
          </a:xfrm>
          <a:prstGeom prst="roundRect">
            <a:avLst>
              <a:gd name="adj" fmla="val 8000"/>
            </a:avLst>
          </a:prstGeom>
          <a:solidFill>
            <a:srgbClr val="EAF1FA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1F497D"/>
                </a:solidFill>
                <a:latin typeface="Arial"/>
              </a:rPr>
              <a:t>Doctor dashboard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Arial"/>
              </a:rPr>
              <a:t>queue · Patient 360 · summary review · Rx writer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6821424" y="4434840"/>
            <a:ext cx="1600200" cy="868680"/>
          </a:xfrm>
          <a:prstGeom prst="roundRect">
            <a:avLst>
              <a:gd name="adj" fmla="val 8000"/>
            </a:avLst>
          </a:prstGeom>
          <a:solidFill>
            <a:srgbClr val="EAF1FA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1F497D"/>
                </a:solidFill>
                <a:latin typeface="Arial"/>
              </a:rPr>
              <a:t>Patient portal + app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Arial"/>
              </a:rPr>
              <a:t>records · prescriptions · OTP login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8522208" y="4434840"/>
            <a:ext cx="1600200" cy="868680"/>
          </a:xfrm>
          <a:prstGeom prst="roundRect">
            <a:avLst>
              <a:gd name="adj" fmla="val 8000"/>
            </a:avLst>
          </a:prstGeom>
          <a:solidFill>
            <a:srgbClr val="EAF1FA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1F497D"/>
                </a:solidFill>
                <a:latin typeface="Arial"/>
              </a:rPr>
              <a:t>Hospital &amp; central admin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Arial"/>
              </a:rPr>
              <a:t>queues · device health · signals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10222992" y="4434840"/>
            <a:ext cx="1600200" cy="868680"/>
          </a:xfrm>
          <a:prstGeom prst="roundRect">
            <a:avLst>
              <a:gd name="adj" fmla="val 8000"/>
            </a:avLst>
          </a:prstGeom>
          <a:solidFill>
            <a:srgbClr val="EAF1FA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1F497D"/>
                </a:solidFill>
                <a:latin typeface="Arial"/>
              </a:rPr>
              <a:t>FHIR R4 adapter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Arial"/>
              </a:rPr>
              <a:t>→ ABDM (demo mode today)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5120640" y="5440680"/>
            <a:ext cx="160020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FB0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1700" b="1" i="0">
                <a:solidFill>
                  <a:srgbClr val="E8802A"/>
                </a:solidFill>
                <a:latin typeface="Arial"/>
              </a:rPr>
              <a:t>7 + 1</a:t>
            </a:r>
          </a:p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front-end apps + real-time backend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6821424" y="5440680"/>
            <a:ext cx="160020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FB0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1700" b="1" i="0">
                <a:solidFill>
                  <a:srgbClr val="E8802A"/>
                </a:solidFill>
                <a:latin typeface="Arial"/>
              </a:rPr>
              <a:t>6 + AYUSH</a:t>
            </a:r>
          </a:p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clinical question pathways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8522208" y="5440680"/>
            <a:ext cx="160020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FB0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1700" b="1" i="0">
                <a:solidFill>
                  <a:srgbClr val="E8802A"/>
                </a:solidFill>
                <a:latin typeface="Arial"/>
              </a:rPr>
              <a:t>13</a:t>
            </a:r>
          </a:p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Indian languages in patient UI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10222992" y="5440680"/>
            <a:ext cx="160020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FB0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1700" b="1" i="0">
                <a:solidFill>
                  <a:srgbClr val="E8802A"/>
                </a:solidFill>
                <a:latin typeface="Arial"/>
              </a:rPr>
              <a:t>NLEM 2022</a:t>
            </a:r>
          </a:p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basis of Rx-safety catalogue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 err="1">
                <a:solidFill>
                  <a:srgbClr val="1F497D"/>
                </a:solidFill>
              </a:rPr>
              <a:t>CodeBloom</a:t>
            </a:r>
            <a:endParaRPr lang="en-IN" sz="11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70432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0" i="0">
                <a:solidFill>
                  <a:srgbClr val="E8802A"/>
                </a:solidFill>
                <a:latin typeface="Arial"/>
              </a:rPr>
              <a:t>■ </a:t>
            </a:r>
            <a:r>
              <a:rPr sz="1200" b="1" i="0">
                <a:solidFill>
                  <a:srgbClr val="1F497D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65760" y="1444752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Problem-statement requirements vs. working prototype (23 items, our own code audit)</a:t>
            </a:r>
          </a:p>
        </p:txBody>
      </p:sp>
      <p:graphicFrame>
        <p:nvGraphicFramePr>
          <p:cNvPr id="17412" name="Chart 17411"/>
          <p:cNvGraphicFramePr>
            <a:graphicFrameLocks noGrp="1"/>
          </p:cNvGraphicFramePr>
          <p:nvPr/>
        </p:nvGraphicFramePr>
        <p:xfrm>
          <a:off x="365760" y="1691640"/>
          <a:ext cx="548640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413" name="TextBox 17412"/>
          <p:cNvSpPr txBox="1"/>
          <p:nvPr/>
        </p:nvSpPr>
        <p:spPr>
          <a:xfrm>
            <a:off x="365760" y="4315968"/>
            <a:ext cx="5486400" cy="1965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marL="146304" indent="-146304" algn="l">
              <a:spcAft>
                <a:spcPts val="400"/>
              </a:spcAft>
              <a:buClr>
                <a:srgbClr val="2E9E5B"/>
              </a:buClr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Software-first: runs on a touchscreen PC / tablet + camera; RFID is a low-cost off-the-shelf module</a:t>
            </a:r>
          </a:p>
          <a:p>
            <a:pPr marL="146304" indent="-146304" algn="l">
              <a:spcAft>
                <a:spcPts val="400"/>
              </a:spcAft>
              <a:buClr>
                <a:srgbClr val="2E9E5B"/>
              </a:buClr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Working full-stack prototype already built (7 front-end apps + real-time backend)</a:t>
            </a:r>
          </a:p>
          <a:p>
            <a:pPr marL="146304" indent="-146304" algn="l">
              <a:spcAft>
                <a:spcPts val="400"/>
              </a:spcAft>
              <a:buClr>
                <a:srgbClr val="2E9E5B"/>
              </a:buClr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Speech, OCR and safety engines sit behind interfaces – swap in Bhashini or another OCR without redesign</a:t>
            </a:r>
          </a:p>
          <a:p>
            <a:pPr marL="146304" indent="-146304" algn="l">
              <a:spcAft>
                <a:spcPts val="400"/>
              </a:spcAft>
              <a:buClr>
                <a:srgbClr val="2E9E5B"/>
              </a:buClr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REST + FHIR path lets it sit beside existing registration / HIS instead of replacing it</a:t>
            </a:r>
          </a:p>
        </p:txBody>
      </p:sp>
      <p:graphicFrame>
        <p:nvGraphicFramePr>
          <p:cNvPr id="17414" name="Table 17413"/>
          <p:cNvGraphicFramePr>
            <a:graphicFrameLocks noGrp="1"/>
          </p:cNvGraphicFramePr>
          <p:nvPr/>
        </p:nvGraphicFramePr>
        <p:xfrm>
          <a:off x="6080760" y="1170432"/>
          <a:ext cx="5742432" cy="3429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Potential challenges and risks</a:t>
                      </a:r>
                    </a:p>
                  </a:txBody>
                  <a:tcPr marL="73152" marR="73152" marT="36576" marB="36576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Strategies for overcoming these challenges</a:t>
                      </a:r>
                    </a:p>
                  </a:txBody>
                  <a:tcPr marL="73152" marR="73152" marT="36576" marB="36576" anchor="ctr"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1A1A"/>
                          </a:solidFill>
                          <a:latin typeface="Arial"/>
                        </a:rPr>
                        <a:t>Speech accuracy in noisy wards / accents</a:t>
                      </a:r>
                    </a:p>
                  </a:txBody>
                  <a:tcPr marL="73152" marR="73152" marT="36576" marB="36576" anchor="ctr"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Arial"/>
                        </a:rPr>
                        <a:t>Touch is always available; Bhashini / AI4Bharat models via pluggable speech interface</a:t>
                      </a:r>
                    </a:p>
                  </a:txBody>
                  <a:tcPr marL="73152" marR="73152" marT="36576" marB="36576" anchor="ctr">
                    <a:solidFill>
                      <a:srgbClr val="E6F4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1A1A"/>
                          </a:solidFill>
                          <a:latin typeface="Arial"/>
                        </a:rPr>
                        <a:t>OCR errors on handwriting</a:t>
                      </a:r>
                    </a:p>
                  </a:txBody>
                  <a:tcPr marL="73152" marR="73152" marT="36576" marB="36576" anchor="ctr"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Arial"/>
                        </a:rPr>
                        <a:t>Confidence scores, ‘needs verification’ status, original image shown to doctor</a:t>
                      </a:r>
                    </a:p>
                  </a:txBody>
                  <a:tcPr marL="73152" marR="73152" marT="36576" marB="36576" anchor="ctr">
                    <a:solidFill>
                      <a:srgbClr val="E6F4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1A1A"/>
                          </a:solidFill>
                          <a:latin typeface="Arial"/>
                        </a:rPr>
                        <a:t>Data protection (DPDP Act 2023)</a:t>
                      </a:r>
                    </a:p>
                  </a:txBody>
                  <a:tcPr marL="73152" marR="73152" marT="36576" marB="36576" anchor="ctr"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Arial"/>
                        </a:rPr>
                        <a:t>Consent-first flow, audit log, no health data on RFID card, role-based access, idle timeout</a:t>
                      </a:r>
                    </a:p>
                  </a:txBody>
                  <a:tcPr marL="73152" marR="73152" marT="36576" marB="36576" anchor="ctr">
                    <a:solidFill>
                      <a:srgbClr val="E6F4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1A1A"/>
                          </a:solidFill>
                          <a:latin typeface="Arial"/>
                        </a:rPr>
                        <a:t>Clinical correctness of questions</a:t>
                      </a:r>
                    </a:p>
                  </a:txBody>
                  <a:tcPr marL="73152" marR="73152" marT="36576" marB="36576" anchor="ctr"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Arial"/>
                        </a:rPr>
                        <a:t>Clinician-reviewed trees; doctor confirms every summary; AI never diagnoses</a:t>
                      </a:r>
                    </a:p>
                  </a:txBody>
                  <a:tcPr marL="73152" marR="73152" marT="36576" marB="36576" anchor="ctr">
                    <a:solidFill>
                      <a:srgbClr val="E6F4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1A1A"/>
                          </a:solidFill>
                          <a:latin typeface="Arial"/>
                        </a:rPr>
                        <a:t>Adoption &amp; connectivity</a:t>
                      </a:r>
                    </a:p>
                  </a:txBody>
                  <a:tcPr marL="73152" marR="73152" marT="36576" marB="36576" anchor="ctr"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Arial"/>
                        </a:rPr>
                        <a:t>Commodity hardware, touch fallback, REST/FHIR fit beside existing HIS; offline mode on roadmap</a:t>
                      </a:r>
                    </a:p>
                  </a:txBody>
                  <a:tcPr marL="73152" marR="73152" marT="36576" marB="36576" anchor="ctr">
                    <a:solidFill>
                      <a:srgbClr val="E6F4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415" name="TextBox 17414"/>
          <p:cNvSpPr txBox="1"/>
          <p:nvPr/>
        </p:nvSpPr>
        <p:spPr>
          <a:xfrm>
            <a:off x="6080760" y="4681728"/>
            <a:ext cx="574243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1F497D"/>
                </a:solidFill>
                <a:latin typeface="Arial"/>
              </a:rPr>
              <a:t>Phased rollout</a:t>
            </a:r>
          </a:p>
        </p:txBody>
      </p:sp>
      <p:sp>
        <p:nvSpPr>
          <p:cNvPr id="17416" name="Pentagon 17415"/>
          <p:cNvSpPr/>
          <p:nvPr/>
        </p:nvSpPr>
        <p:spPr>
          <a:xfrm>
            <a:off x="6080760" y="4956048"/>
            <a:ext cx="1417320" cy="329184"/>
          </a:xfrm>
          <a:prstGeom prst="homePlat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A – Strengthen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6080760" y="5321808"/>
            <a:ext cx="1371600" cy="932688"/>
          </a:xfrm>
          <a:prstGeom prst="roundRect">
            <a:avLst>
              <a:gd name="adj" fmla="val 6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t"/>
          <a:lstStyle/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Bhashini ASR · 13-language question banks · OCR accuracy benchmark</a:t>
            </a:r>
          </a:p>
        </p:txBody>
      </p:sp>
      <p:sp>
        <p:nvSpPr>
          <p:cNvPr id="17418" name="Pentagon 17417"/>
          <p:cNvSpPr/>
          <p:nvPr/>
        </p:nvSpPr>
        <p:spPr>
          <a:xfrm>
            <a:off x="7525512" y="4956048"/>
            <a:ext cx="1417320" cy="329184"/>
          </a:xfrm>
          <a:prstGeom prst="homePlat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B – Integrate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7525512" y="5321808"/>
            <a:ext cx="1371600" cy="932688"/>
          </a:xfrm>
          <a:prstGeom prst="roundRect">
            <a:avLst>
              <a:gd name="adj" fmla="val 6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t"/>
          <a:lstStyle/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Live ABDM / ABHA · FHIR bundles · HIS connectors</a:t>
            </a:r>
          </a:p>
        </p:txBody>
      </p:sp>
      <p:sp>
        <p:nvSpPr>
          <p:cNvPr id="17420" name="Pentagon 17419"/>
          <p:cNvSpPr/>
          <p:nvPr/>
        </p:nvSpPr>
        <p:spPr>
          <a:xfrm>
            <a:off x="8970264" y="4956048"/>
            <a:ext cx="1417320" cy="329184"/>
          </a:xfrm>
          <a:prstGeom prst="homePlate">
            <a:avLst/>
          </a:prstGeom>
          <a:solidFill>
            <a:srgbClr val="E88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C – Pilot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8970264" y="5321808"/>
            <a:ext cx="1371600" cy="932688"/>
          </a:xfrm>
          <a:prstGeom prst="roundRect">
            <a:avLst>
              <a:gd name="adj" fmla="val 6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t"/>
          <a:lstStyle/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OPD pilot · clinician validation · time-motion study</a:t>
            </a:r>
          </a:p>
        </p:txBody>
      </p:sp>
      <p:sp>
        <p:nvSpPr>
          <p:cNvPr id="17422" name="Pentagon 17421"/>
          <p:cNvSpPr/>
          <p:nvPr/>
        </p:nvSpPr>
        <p:spPr>
          <a:xfrm>
            <a:off x="10415016" y="4956048"/>
            <a:ext cx="1417320" cy="329184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D – Scale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10415016" y="5321808"/>
            <a:ext cx="1371600" cy="932688"/>
          </a:xfrm>
          <a:prstGeom prst="roundRect">
            <a:avLst>
              <a:gd name="adj" fmla="val 6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t"/>
          <a:lstStyle/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Vitals pod · sign-language avatar · offline mode · state rollout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 err="1">
                <a:solidFill>
                  <a:srgbClr val="1F497D"/>
                </a:solidFill>
              </a:rPr>
              <a:t>CodeBloom</a:t>
            </a:r>
            <a:endParaRPr lang="en-US" sz="1100" b="1" dirty="0">
              <a:solidFill>
                <a:srgbClr val="1F497D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88720"/>
            <a:ext cx="2743200" cy="777240"/>
          </a:xfrm>
          <a:prstGeom prst="roundRect">
            <a:avLst>
              <a:gd name="adj" fmla="val 8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2200" b="1" i="0">
                <a:solidFill>
                  <a:srgbClr val="1F497D"/>
                </a:solidFill>
                <a:latin typeface="Arial"/>
              </a:rPr>
              <a:t>4,000–10,000</a:t>
            </a:r>
          </a:p>
          <a:p>
            <a:pPr algn="ctr"/>
            <a:r>
              <a:rPr sz="1000" b="0" i="0">
                <a:solidFill>
                  <a:srgbClr val="595959"/>
                </a:solidFill>
                <a:latin typeface="Arial"/>
              </a:rPr>
              <a:t>OPD patients per day in tertiary hospitals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242462" y="1188720"/>
            <a:ext cx="2743200" cy="777240"/>
          </a:xfrm>
          <a:prstGeom prst="roundRect">
            <a:avLst>
              <a:gd name="adj" fmla="val 8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2200" b="1" i="0">
                <a:solidFill>
                  <a:srgbClr val="1F497D"/>
                </a:solidFill>
                <a:latin typeface="Arial"/>
              </a:rPr>
              <a:t>2–5 min</a:t>
            </a:r>
          </a:p>
          <a:p>
            <a:pPr algn="ctr"/>
            <a:r>
              <a:rPr sz="1000" b="0" i="0">
                <a:solidFill>
                  <a:srgbClr val="595959"/>
                </a:solidFill>
                <a:latin typeface="Arial"/>
              </a:rPr>
              <a:t>typical doctor time per patient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19164" y="1188720"/>
            <a:ext cx="2743200" cy="777240"/>
          </a:xfrm>
          <a:prstGeom prst="roundRect">
            <a:avLst>
              <a:gd name="adj" fmla="val 8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2200" b="1" i="0">
                <a:solidFill>
                  <a:srgbClr val="1F497D"/>
                </a:solidFill>
                <a:latin typeface="Arial"/>
              </a:rPr>
              <a:t>70–80%</a:t>
            </a:r>
          </a:p>
          <a:p>
            <a:pPr algn="ctr"/>
            <a:r>
              <a:rPr sz="1000" b="0" i="0">
                <a:solidFill>
                  <a:srgbClr val="595959"/>
                </a:solidFill>
                <a:latin typeface="Arial"/>
              </a:rPr>
              <a:t>of diagnoses possible from a good history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995867" y="1188720"/>
            <a:ext cx="2743200" cy="777240"/>
          </a:xfrm>
          <a:prstGeom prst="roundRect">
            <a:avLst>
              <a:gd name="adj" fmla="val 8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2200" b="1" i="0">
                <a:solidFill>
                  <a:srgbClr val="E8802A"/>
                </a:solidFill>
                <a:latin typeface="Arial"/>
              </a:rPr>
              <a:t>13</a:t>
            </a:r>
          </a:p>
          <a:p>
            <a:pPr algn="ctr"/>
            <a:r>
              <a:rPr sz="1000" b="0" i="0">
                <a:solidFill>
                  <a:srgbClr val="595959"/>
                </a:solidFill>
                <a:latin typeface="Arial"/>
              </a:rPr>
              <a:t>Indian languages in the patient interface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65760" y="2103120"/>
            <a:ext cx="384048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0" i="0">
                <a:solidFill>
                  <a:srgbClr val="E8802A"/>
                </a:solidFill>
                <a:latin typeface="Arial"/>
              </a:rPr>
              <a:t>■ </a:t>
            </a:r>
            <a:r>
              <a:rPr sz="1200" b="1" i="0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5" name="Oval 17414"/>
          <p:cNvSpPr/>
          <p:nvPr/>
        </p:nvSpPr>
        <p:spPr>
          <a:xfrm>
            <a:off x="365760" y="2724912"/>
            <a:ext cx="384048" cy="38404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27432" rIns="0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P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841248" y="2633472"/>
            <a:ext cx="3429000" cy="62179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1F497D"/>
                </a:solidFill>
                <a:latin typeface="Arial"/>
              </a:rPr>
              <a:t>Patients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Shorter waits; history recorded in their own language; records kept digitally</a:t>
            </a:r>
          </a:p>
        </p:txBody>
      </p:sp>
      <p:sp>
        <p:nvSpPr>
          <p:cNvPr id="17417" name="Oval 17416"/>
          <p:cNvSpPr/>
          <p:nvPr/>
        </p:nvSpPr>
        <p:spPr>
          <a:xfrm>
            <a:off x="365760" y="3401568"/>
            <a:ext cx="384048" cy="384048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27432" rIns="0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841248" y="3310128"/>
            <a:ext cx="3429000" cy="62179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1F497D"/>
                </a:solidFill>
                <a:latin typeface="Arial"/>
              </a:rPr>
              <a:t>Doctors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Complete structured history on arrival; more time to examine and counsel</a:t>
            </a:r>
          </a:p>
        </p:txBody>
      </p:sp>
      <p:sp>
        <p:nvSpPr>
          <p:cNvPr id="17419" name="Oval 17418"/>
          <p:cNvSpPr/>
          <p:nvPr/>
        </p:nvSpPr>
        <p:spPr>
          <a:xfrm>
            <a:off x="365760" y="4078224"/>
            <a:ext cx="384048" cy="384048"/>
          </a:xfrm>
          <a:prstGeom prst="ellipse">
            <a:avLst/>
          </a:prstGeom>
          <a:solidFill>
            <a:srgbClr val="E88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27432" rIns="0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N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841248" y="3986784"/>
            <a:ext cx="3429000" cy="62179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1F497D"/>
                </a:solidFill>
                <a:latin typeface="Arial"/>
              </a:rPr>
              <a:t>Nurses &amp; admins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Less registration / transcription work; emergencies flagged in real time</a:t>
            </a:r>
          </a:p>
        </p:txBody>
      </p:sp>
      <p:sp>
        <p:nvSpPr>
          <p:cNvPr id="17421" name="Oval 17420"/>
          <p:cNvSpPr/>
          <p:nvPr/>
        </p:nvSpPr>
        <p:spPr>
          <a:xfrm>
            <a:off x="365760" y="4754880"/>
            <a:ext cx="384048" cy="384048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27432" rIns="0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841248" y="4663440"/>
            <a:ext cx="3429000" cy="62179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1F497D"/>
                </a:solidFill>
                <a:latin typeface="Arial"/>
              </a:rPr>
              <a:t>AYUSH vaidyas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Dashavidha Pariksha captured without eating into consult time</a:t>
            </a:r>
          </a:p>
        </p:txBody>
      </p:sp>
      <p:sp>
        <p:nvSpPr>
          <p:cNvPr id="17423" name="Oval 17422"/>
          <p:cNvSpPr/>
          <p:nvPr/>
        </p:nvSpPr>
        <p:spPr>
          <a:xfrm>
            <a:off x="365760" y="5431536"/>
            <a:ext cx="384048" cy="38404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27432" rIns="0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H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841248" y="5340096"/>
            <a:ext cx="3429000" cy="62179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1F497D"/>
                </a:solidFill>
                <a:latin typeface="Arial"/>
              </a:rPr>
              <a:t>Health system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Structured, consented data for ABDM and public-health surveillance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434840" y="2103120"/>
            <a:ext cx="36576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1F497D"/>
                </a:solidFill>
                <a:latin typeface="Arial"/>
              </a:rPr>
              <a:t>Projected doctor-hours freed per day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4434840" y="2377440"/>
            <a:ext cx="3657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= patients per day × minutes saved ÷ 60. Assumption: 1–2 min of history-taking saved per patient (to be validated in pilot)</a:t>
            </a:r>
          </a:p>
        </p:txBody>
      </p:sp>
      <p:graphicFrame>
        <p:nvGraphicFramePr>
          <p:cNvPr id="17427" name="Chart 17426"/>
          <p:cNvGraphicFramePr>
            <a:graphicFrameLocks noGrp="1"/>
          </p:cNvGraphicFramePr>
          <p:nvPr/>
        </p:nvGraphicFramePr>
        <p:xfrm>
          <a:off x="4434840" y="2880360"/>
          <a:ext cx="36576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428" name="TextBox 17427"/>
          <p:cNvSpPr txBox="1"/>
          <p:nvPr/>
        </p:nvSpPr>
        <p:spPr>
          <a:xfrm>
            <a:off x="8321040" y="2103120"/>
            <a:ext cx="352044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0" i="0">
                <a:solidFill>
                  <a:srgbClr val="E8802A"/>
                </a:solidFill>
                <a:latin typeface="Arial"/>
              </a:rPr>
              <a:t>■ </a:t>
            </a:r>
            <a:r>
              <a:rPr sz="1200" b="1" i="0">
                <a:solidFill>
                  <a:srgbClr val="1F497D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8321040" y="2633472"/>
            <a:ext cx="3502152" cy="1051560"/>
          </a:xfrm>
          <a:prstGeom prst="roundRect">
            <a:avLst>
              <a:gd name="adj" fmla="val 6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endParaRPr/>
          </a:p>
        </p:txBody>
      </p:sp>
      <p:sp>
        <p:nvSpPr>
          <p:cNvPr id="17430" name="Rounded Rectangle 17429"/>
          <p:cNvSpPr/>
          <p:nvPr/>
        </p:nvSpPr>
        <p:spPr>
          <a:xfrm>
            <a:off x="8394192" y="2706624"/>
            <a:ext cx="1234440" cy="237744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27432" rIns="18288" bIns="27432" rtlCol="0" anchor="ctr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SOCIAL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8394192" y="2980944"/>
            <a:ext cx="3383280" cy="6857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marL="146304" indent="-146304" algn="l">
              <a:spcAft>
                <a:spcPts val="200"/>
              </a:spcAft>
              <a:buClr>
                <a:srgbClr val="2E9E5B"/>
              </a:buClr>
              <a:buFont typeface="Arial"/>
              <a:buChar char="•"/>
            </a:pPr>
            <a:r>
              <a:rPr sz="1000" b="0" i="0">
                <a:solidFill>
                  <a:srgbClr val="1A1A1A"/>
                </a:solidFill>
                <a:latin typeface="Arial"/>
              </a:rPr>
              <a:t>Inclusive for elderly, rural and low-literacy patients</a:t>
            </a:r>
          </a:p>
          <a:p>
            <a:pPr marL="146304" indent="-146304" algn="l">
              <a:spcAft>
                <a:spcPts val="200"/>
              </a:spcAft>
              <a:buClr>
                <a:srgbClr val="2E9E5B"/>
              </a:buClr>
              <a:buFont typeface="Arial"/>
              <a:buChar char="•"/>
            </a:pPr>
            <a:r>
              <a:rPr sz="1000" b="0" i="0">
                <a:solidFill>
                  <a:srgbClr val="1A1A1A"/>
                </a:solidFill>
                <a:latin typeface="Arial"/>
              </a:rPr>
              <a:t>Earlier detection of emergencies</a:t>
            </a:r>
          </a:p>
          <a:p>
            <a:pPr marL="146304" indent="-146304" algn="l">
              <a:spcAft>
                <a:spcPts val="200"/>
              </a:spcAft>
              <a:buClr>
                <a:srgbClr val="2E9E5B"/>
              </a:buClr>
              <a:buFont typeface="Arial"/>
              <a:buChar char="•"/>
            </a:pPr>
            <a:r>
              <a:rPr sz="1000" b="0" i="0">
                <a:solidFill>
                  <a:srgbClr val="1A1A1A"/>
                </a:solidFill>
                <a:latin typeface="Arial"/>
              </a:rPr>
              <a:t>Same access in 13 languages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8321040" y="3776472"/>
            <a:ext cx="3502152" cy="1051560"/>
          </a:xfrm>
          <a:prstGeom prst="roundRect">
            <a:avLst>
              <a:gd name="adj" fmla="val 6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endParaRPr/>
          </a:p>
        </p:txBody>
      </p:sp>
      <p:sp>
        <p:nvSpPr>
          <p:cNvPr id="17433" name="Rounded Rectangle 17432"/>
          <p:cNvSpPr/>
          <p:nvPr/>
        </p:nvSpPr>
        <p:spPr>
          <a:xfrm>
            <a:off x="8394192" y="3849624"/>
            <a:ext cx="1234440" cy="237744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27432" rIns="18288" bIns="27432" rtlCol="0" anchor="ctr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ECONOMIC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8394192" y="4123944"/>
            <a:ext cx="3383280" cy="6857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marL="146304" indent="-146304" algn="l">
              <a:spcAft>
                <a:spcPts val="200"/>
              </a:spcAft>
              <a:buClr>
                <a:srgbClr val="0070C0"/>
              </a:buClr>
              <a:buFont typeface="Arial"/>
              <a:buChar char="•"/>
            </a:pPr>
            <a:r>
              <a:rPr sz="1000" b="0" i="0">
                <a:solidFill>
                  <a:srgbClr val="1A1A1A"/>
                </a:solidFill>
                <a:latin typeface="Arial"/>
              </a:rPr>
              <a:t>Doctor-hours freed (see chart)</a:t>
            </a:r>
          </a:p>
          <a:p>
            <a:pPr marL="146304" indent="-146304" algn="l">
              <a:spcAft>
                <a:spcPts val="200"/>
              </a:spcAft>
              <a:buClr>
                <a:srgbClr val="0070C0"/>
              </a:buClr>
              <a:buFont typeface="Arial"/>
              <a:buChar char="•"/>
            </a:pPr>
            <a:r>
              <a:rPr sz="1000" b="0" i="0">
                <a:solidFill>
                  <a:srgbClr val="1A1A1A"/>
                </a:solidFill>
                <a:latin typeface="Arial"/>
              </a:rPr>
              <a:t>Low-cost commodity hardware</a:t>
            </a:r>
          </a:p>
          <a:p>
            <a:pPr marL="146304" indent="-146304" algn="l">
              <a:spcAft>
                <a:spcPts val="200"/>
              </a:spcAft>
              <a:buClr>
                <a:srgbClr val="0070C0"/>
              </a:buClr>
              <a:buFont typeface="Arial"/>
              <a:buChar char="•"/>
            </a:pPr>
            <a:r>
              <a:rPr sz="1000" b="0" i="0">
                <a:solidFill>
                  <a:srgbClr val="1A1A1A"/>
                </a:solidFill>
                <a:latin typeface="Arial"/>
              </a:rPr>
              <a:t>Cheaper Jan Aushadhi generics suggested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8321040" y="4919472"/>
            <a:ext cx="3502152" cy="868680"/>
          </a:xfrm>
          <a:prstGeom prst="roundRect">
            <a:avLst>
              <a:gd name="adj" fmla="val 6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endParaRPr/>
          </a:p>
        </p:txBody>
      </p:sp>
      <p:sp>
        <p:nvSpPr>
          <p:cNvPr id="17436" name="Rounded Rectangle 17435"/>
          <p:cNvSpPr/>
          <p:nvPr/>
        </p:nvSpPr>
        <p:spPr>
          <a:xfrm>
            <a:off x="8394192" y="4992624"/>
            <a:ext cx="1234440" cy="237744"/>
          </a:xfrm>
          <a:prstGeom prst="roundRect">
            <a:avLst/>
          </a:prstGeom>
          <a:solidFill>
            <a:srgbClr val="E88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27432" rIns="18288" bIns="27432" rtlCol="0" anchor="ctr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ENVIRONMENTAL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8394192" y="5266944"/>
            <a:ext cx="3383280" cy="50291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marL="146304" indent="-146304" algn="l">
              <a:spcAft>
                <a:spcPts val="200"/>
              </a:spcAft>
              <a:buClr>
                <a:srgbClr val="E8802A"/>
              </a:buClr>
              <a:buFont typeface="Arial"/>
              <a:buChar char="•"/>
            </a:pPr>
            <a:r>
              <a:rPr sz="1000" b="0" i="0">
                <a:solidFill>
                  <a:srgbClr val="1A1A1A"/>
                </a:solidFill>
                <a:latin typeface="Arial"/>
              </a:rPr>
              <a:t>Paperless intake and digital records</a:t>
            </a:r>
          </a:p>
          <a:p>
            <a:pPr marL="146304" indent="-146304" algn="l">
              <a:spcAft>
                <a:spcPts val="200"/>
              </a:spcAft>
              <a:buClr>
                <a:srgbClr val="E8802A"/>
              </a:buClr>
              <a:buFont typeface="Arial"/>
              <a:buChar char="•"/>
            </a:pPr>
            <a:r>
              <a:rPr sz="1000" b="0" i="0">
                <a:solidFill>
                  <a:srgbClr val="1A1A1A"/>
                </a:solidFill>
                <a:latin typeface="Arial"/>
              </a:rPr>
              <a:t>Less paper for forms and repeated history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365760" y="6053328"/>
            <a:ext cx="114300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Sources: SIH 2026 problem statement 26047 (volumes, consultation time, 70–80% figure); doctor-hours chart is simple arithmetic on those volumes, not a measured result.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 err="1"/>
              <a:t>CodeBloom</a:t>
            </a:r>
            <a:endParaRPr lang="en-IN" sz="1100" b="1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70432"/>
            <a:ext cx="1143000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0" i="0">
                <a:solidFill>
                  <a:srgbClr val="E8802A"/>
                </a:solidFill>
                <a:latin typeface="Arial"/>
              </a:rPr>
              <a:t>■ </a:t>
            </a:r>
            <a:r>
              <a:rPr sz="1300" b="1" i="0">
                <a:solidFill>
                  <a:srgbClr val="1F497D"/>
                </a:solidFill>
                <a:latin typeface="Arial"/>
              </a:rPr>
              <a:t>Details / Links of the reference and research work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365760" y="1572768"/>
          <a:ext cx="11457432" cy="41788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90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Reference / source</a:t>
                      </a:r>
                    </a:p>
                  </a:txBody>
                  <a:tcPr marL="54864" marR="54864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Link</a:t>
                      </a:r>
                    </a:p>
                  </a:txBody>
                  <a:tcPr marL="54864" marR="54864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How we used it</a:t>
                      </a:r>
                    </a:p>
                  </a:txBody>
                  <a:tcPr marL="54864" marR="54864" anchor="ctr"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F497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1A1A"/>
                          </a:solidFill>
                          <a:latin typeface="Arial"/>
                        </a:rPr>
                        <a:t>SIH 2026 Problem Statement 26047 – Patient Case-Taking Software (Ministry of Ayush / All India Institute of Ayurveda)</a:t>
                      </a:r>
                    </a:p>
                  </a:txBody>
                  <a:tcPr marL="54864" marR="54864" marT="27432" marB="27432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 u="sng">
                          <a:solidFill>
                            <a:srgbClr val="0070C0"/>
                          </a:solidFill>
                          <a:latin typeface="Arial"/>
                          <a:hlinkClick r:id="rId4"/>
                        </a:rPr>
                        <a:t>sih.gov.in</a:t>
                      </a:r>
                    </a:p>
                  </a:txBody>
                  <a:tcPr marL="54864" marR="54864" marT="27432" marB="27432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Arial"/>
                        </a:rPr>
                        <a:t>Problem scope, four modules, patient journey</a:t>
                      </a:r>
                    </a:p>
                  </a:txBody>
                  <a:tcPr marL="54864" marR="54864" marT="27432" marB="27432" anchor="ctr">
                    <a:solidFill>
                      <a:srgbClr val="EA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F497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1A1A"/>
                          </a:solidFill>
                          <a:latin typeface="Arial"/>
                        </a:rPr>
                        <a:t>Irving G, et al. International variations in primary care physician consultation time: a systematic review of 67 countries. BMJ Open 2017;7:e017902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 u="sng">
                          <a:solidFill>
                            <a:srgbClr val="0070C0"/>
                          </a:solidFill>
                          <a:latin typeface="Arial"/>
                          <a:hlinkClick r:id="rId5"/>
                        </a:rPr>
                        <a:t>doi.org/10.1136/bmjopen-2017-017902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Arial"/>
                        </a:rPr>
                        <a:t>Evidence behind the short-consultation problem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F497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1A1A"/>
                          </a:solidFill>
                          <a:latin typeface="Arial"/>
                        </a:rPr>
                        <a:t>Ayushman Bharat Digital Mission – National Health Authority (ABHA, Health Information Exchange)</a:t>
                      </a:r>
                    </a:p>
                  </a:txBody>
                  <a:tcPr marL="54864" marR="54864" marT="27432" marB="27432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 u="sng">
                          <a:solidFill>
                            <a:srgbClr val="0070C0"/>
                          </a:solidFill>
                          <a:latin typeface="Arial"/>
                          <a:hlinkClick r:id="rId6"/>
                        </a:rPr>
                        <a:t>abdm.gov.in</a:t>
                      </a:r>
                    </a:p>
                  </a:txBody>
                  <a:tcPr marL="54864" marR="54864" marT="27432" marB="27432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Arial"/>
                        </a:rPr>
                        <a:t>ABHA ID field; consent and interoperability roadmap</a:t>
                      </a:r>
                    </a:p>
                  </a:txBody>
                  <a:tcPr marL="54864" marR="54864" marT="27432" marB="27432" anchor="ctr">
                    <a:solidFill>
                      <a:srgbClr val="EA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F497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1A1A"/>
                          </a:solidFill>
                          <a:latin typeface="Arial"/>
                        </a:rPr>
                        <a:t>National Resource Centre for EHR Standards – ABDM FHIR R4 profiles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 u="sng">
                          <a:solidFill>
                            <a:srgbClr val="0070C0"/>
                          </a:solidFill>
                          <a:latin typeface="Arial"/>
                          <a:hlinkClick r:id="rId7"/>
                        </a:rPr>
                        <a:t>nrces.in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Arial"/>
                        </a:rPr>
                        <a:t>Patient / Encounter resource mapping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F497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1A1A"/>
                          </a:solidFill>
                          <a:latin typeface="Arial"/>
                        </a:rPr>
                        <a:t>Digital Personal Data Protection Act, 2023 (MeitY)</a:t>
                      </a:r>
                    </a:p>
                  </a:txBody>
                  <a:tcPr marL="54864" marR="54864" marT="27432" marB="27432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 u="sng">
                          <a:solidFill>
                            <a:srgbClr val="0070C0"/>
                          </a:solidFill>
                          <a:latin typeface="Arial"/>
                          <a:hlinkClick r:id="rId8"/>
                        </a:rPr>
                        <a:t>meity.gov.in – DPDP Act 2023</a:t>
                      </a:r>
                    </a:p>
                  </a:txBody>
                  <a:tcPr marL="54864" marR="54864" marT="27432" marB="27432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Arial"/>
                        </a:rPr>
                        <a:t>Consent-first design, data minimisation</a:t>
                      </a:r>
                    </a:p>
                  </a:txBody>
                  <a:tcPr marL="54864" marR="54864" marT="27432" marB="27432" anchor="ctr">
                    <a:solidFill>
                      <a:srgbClr val="EA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F497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1A1A"/>
                          </a:solidFill>
                          <a:latin typeface="Arial"/>
                        </a:rPr>
                        <a:t>Bhashini and AI4Bharat – Indian-language speech (ASR / TTS) models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 u="sng">
                          <a:solidFill>
                            <a:srgbClr val="0070C0"/>
                          </a:solidFill>
                          <a:latin typeface="Arial"/>
                          <a:hlinkClick r:id="rId9"/>
                        </a:rPr>
                        <a:t>bhashini.gov.in · ai4bharat.org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Arial"/>
                        </a:rPr>
                        <a:t>Planned upgrade of the pluggable speech interface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F497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1A1A"/>
                          </a:solidFill>
                          <a:latin typeface="Arial"/>
                        </a:rPr>
                        <a:t>National List of Essential Medicines 2022 (MoHFW); PM Bharatiya Janaushadhi Pariyojana</a:t>
                      </a:r>
                    </a:p>
                  </a:txBody>
                  <a:tcPr marL="54864" marR="54864" marT="27432" marB="27432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 u="sng">
                          <a:solidFill>
                            <a:srgbClr val="0070C0"/>
                          </a:solidFill>
                          <a:latin typeface="Arial"/>
                          <a:hlinkClick r:id="rId10"/>
                        </a:rPr>
                        <a:t>mohfw.gov.in · janaushadhi.gov.in</a:t>
                      </a:r>
                    </a:p>
                  </a:txBody>
                  <a:tcPr marL="54864" marR="54864" marT="27432" marB="27432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Arial"/>
                        </a:rPr>
                        <a:t>Rx-safety catalogue; generic alternatives</a:t>
                      </a:r>
                    </a:p>
                  </a:txBody>
                  <a:tcPr marL="54864" marR="54864" marT="27432" marB="27432" anchor="ctr">
                    <a:solidFill>
                      <a:srgbClr val="EA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F497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1A1A"/>
                          </a:solidFill>
                          <a:latin typeface="Arial"/>
                        </a:rPr>
                        <a:t>Integrated Disease Surveillance Programme (NCDC, MoHFW)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 u="sng">
                          <a:solidFill>
                            <a:srgbClr val="0070C0"/>
                          </a:solidFill>
                          <a:latin typeface="Arial"/>
                          <a:hlinkClick r:id="rId11"/>
                        </a:rPr>
                        <a:t>idsp.mohfw.gov.in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Arial"/>
                        </a:rPr>
                        <a:t>Data model for regional outbreak signals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F497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1A1A"/>
                          </a:solidFill>
                          <a:latin typeface="Arial"/>
                        </a:rPr>
                        <a:t>W3C Web Speech API; Arduino MFRC522 library; Google Gemini API</a:t>
                      </a:r>
                    </a:p>
                  </a:txBody>
                  <a:tcPr marL="54864" marR="54864" marT="27432" marB="27432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 u="sng">
                          <a:solidFill>
                            <a:srgbClr val="0070C0"/>
                          </a:solidFill>
                          <a:latin typeface="Arial"/>
                          <a:hlinkClick r:id="rId12"/>
                        </a:rPr>
                        <a:t>wicg.github.io/speech-api · github.com/OSSLibraries/Arduino_MFRC522</a:t>
                      </a:r>
                    </a:p>
                  </a:txBody>
                  <a:tcPr marL="54864" marR="54864" marT="27432" marB="27432"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Arial"/>
                        </a:rPr>
                        <a:t>Voice I/O, RFID reader firmware, vision OCR</a:t>
                      </a:r>
                    </a:p>
                  </a:txBody>
                  <a:tcPr marL="54864" marR="54864" marT="27432" marB="27432" anchor="ctr">
                    <a:solidFill>
                      <a:srgbClr val="EA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7412" name="TextBox 17411"/>
          <p:cNvSpPr txBox="1"/>
          <p:nvPr/>
        </p:nvSpPr>
        <p:spPr>
          <a:xfrm>
            <a:off x="365760" y="5998464"/>
            <a:ext cx="11430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Prototype status figures on slide 4 come from our own code audit. Volumes and consultation-time figures come from the problem statement and the BMJ Open review above.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7495</TotalTime>
  <Words>1166</Words>
  <Application>Microsoft Office PowerPoint</Application>
  <PresentationFormat>Widescreen</PresentationFormat>
  <Paragraphs>184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Aaditya Vishnoi</cp:lastModifiedBy>
  <cp:revision>150</cp:revision>
  <dcterms:created xsi:type="dcterms:W3CDTF">2013-12-12T18:46:50Z</dcterms:created>
  <dcterms:modified xsi:type="dcterms:W3CDTF">2026-09-21T04:46:03Z</dcterms:modified>
  <cp:category/>
</cp:coreProperties>
</file>