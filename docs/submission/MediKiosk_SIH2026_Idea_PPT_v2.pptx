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Built &amp; working</c:v>
                </c:pt>
              </c:strCache>
            </c:strRef>
          </c:tx>
          <c:spPr>
            <a:solidFill>
              <a:srgbClr val="2E9E5B"/>
            </a:solidFill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859-47B5-966E-D27D17E893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 / demo</c:v>
                </c:pt>
              </c:strCache>
            </c:strRef>
          </c:tx>
          <c:spPr>
            <a:solidFill>
              <a:srgbClr val="F2A93B"/>
            </a:solidFill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859-47B5-966E-D27D17E893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Planned</c:v>
                </c:pt>
              </c:strCache>
            </c:strRef>
          </c:tx>
          <c:spPr>
            <a:solidFill>
              <a:srgbClr val="9FB0C3"/>
            </a:solidFill>
          </c:spPr>
          <c:invertIfNegative val="1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  History engine</c:v>
                </c:pt>
                <c:pt idx="1">
                  <c:v>B  Documents</c:v>
                </c:pt>
                <c:pt idx="2">
                  <c:v>C  Summary</c:v>
                </c:pt>
                <c:pt idx="3">
                  <c:v>D  Consent &amp; ABDM</c:v>
                </c:pt>
                <c:pt idx="4">
                  <c:v>Accessibility &amp; patient login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859-47B5-966E-D27D17E89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9FB0C3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min saved / patient</c:v>
                </c:pt>
              </c:strCache>
            </c:strRef>
          </c:tx>
          <c:spPr>
            <a:solidFill>
              <a:srgbClr val="0070C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4,000 / day</c:v>
                </c:pt>
                <c:pt idx="1">
                  <c:v>7,000 / day</c:v>
                </c:pt>
                <c:pt idx="2">
                  <c:v>10,000 / 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</c:v>
                </c:pt>
                <c:pt idx="1">
                  <c:v>117</c:v>
                </c:pt>
                <c:pt idx="2">
                  <c:v>167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E9-42BA-B72B-AE2057269B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min saved / patient</c:v>
                </c:pt>
              </c:strCache>
            </c:strRef>
          </c:tx>
          <c:spPr>
            <a:solidFill>
              <a:srgbClr val="E8802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4,000 / day</c:v>
                </c:pt>
                <c:pt idx="1">
                  <c:v>7,000 / day</c:v>
                </c:pt>
                <c:pt idx="2">
                  <c:v>10,000 / day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133</c:v>
                </c:pt>
                <c:pt idx="1">
                  <c:v>233</c:v>
                </c:pt>
                <c:pt idx="2">
                  <c:v>333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7E9-42BA-B72B-AE2057269B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9FB0C3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adityavishnoi/MediKisok" TargetMode="External"/><Relationship Id="rId4" Type="http://schemas.openxmlformats.org/officeDocument/2006/relationships/hyperlink" Target="https://medikiosk-sih26047-three.vercel.a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bdm.gov.in" TargetMode="External"/><Relationship Id="rId13" Type="http://schemas.openxmlformats.org/officeDocument/2006/relationships/hyperlink" Target="https://mohfw.gov.in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1136/bmjopen-2017-017902" TargetMode="External"/><Relationship Id="rId12" Type="http://schemas.openxmlformats.org/officeDocument/2006/relationships/hyperlink" Target="https://ai4bharat.org" TargetMode="External"/><Relationship Id="rId17" Type="http://schemas.openxmlformats.org/officeDocument/2006/relationships/hyperlink" Target="https://github.com/OSSLibraries/Arduino_MFRC522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icg.github.io/speech-api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ih.gov.in" TargetMode="External"/><Relationship Id="rId11" Type="http://schemas.openxmlformats.org/officeDocument/2006/relationships/hyperlink" Target="https://bhashini.gov.in" TargetMode="External"/><Relationship Id="rId5" Type="http://schemas.openxmlformats.org/officeDocument/2006/relationships/hyperlink" Target="https://github.com/aadityavishnoi/MediKisok" TargetMode="External"/><Relationship Id="rId15" Type="http://schemas.openxmlformats.org/officeDocument/2006/relationships/hyperlink" Target="https://idsp.mohfw.gov.in" TargetMode="External"/><Relationship Id="rId10" Type="http://schemas.openxmlformats.org/officeDocument/2006/relationships/hyperlink" Target="https://www.meity.gov.in/static/uploads/2024/06/2bf1f0e9f04e6fb4f8fef35e82c42aa5.pdf" TargetMode="External"/><Relationship Id="rId4" Type="http://schemas.openxmlformats.org/officeDocument/2006/relationships/hyperlink" Target="https://medikiosk-sih26047-three.vercel.app" TargetMode="External"/><Relationship Id="rId9" Type="http://schemas.openxmlformats.org/officeDocument/2006/relationships/hyperlink" Target="https://nrces.in" TargetMode="External"/><Relationship Id="rId14" Type="http://schemas.openxmlformats.org/officeDocument/2006/relationships/hyperlink" Target="https://janaushadhi.gov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67512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800" b="0">
                <a:solidFill>
                  <a:srgbClr val="1F497D"/>
                </a:solidFill>
                <a:latin typeface="Arial"/>
              </a:rPr>
              <a:t>26047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800" b="0">
                <a:solidFill>
                  <a:srgbClr val="1F497D"/>
                </a:solidFill>
                <a:latin typeface="Arial"/>
              </a:rPr>
              <a:t>Patient Case-Taking Software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1800" b="0">
                <a:solidFill>
                  <a:srgbClr val="1F497D"/>
                </a:solidFill>
                <a:latin typeface="Arial"/>
              </a:rPr>
              <a:t>MedTech / BioTech / HealthTech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1800" b="0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1800" b="0">
                <a:solidFill>
                  <a:srgbClr val="1F497D"/>
                </a:solidFill>
                <a:latin typeface="Arial"/>
              </a:rPr>
              <a:t>138632</a:t>
            </a: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1800" b="0">
                <a:solidFill>
                  <a:srgbClr val="1F497D"/>
                </a:solidFill>
                <a:latin typeface="Arial"/>
              </a:rPr>
              <a:t>CODEBLOOM 2.0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Leader Name – </a:t>
            </a:r>
            <a:r>
              <a:rPr sz="1800" b="0">
                <a:solidFill>
                  <a:srgbClr val="1F497D"/>
                </a:solidFill>
                <a:latin typeface="Arial"/>
              </a:rPr>
              <a:t>Shashi Shekhar Rai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College Name – </a:t>
            </a:r>
            <a:r>
              <a:rPr sz="1800" b="0">
                <a:solidFill>
                  <a:srgbClr val="1F497D"/>
                </a:solidFill>
                <a:latin typeface="Arial"/>
              </a:rPr>
              <a:t>Galgotias University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0645" y="5257800"/>
            <a:ext cx="45720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000" b="1" i="0" dirty="0" err="1">
                <a:solidFill>
                  <a:srgbClr val="1F497D"/>
                </a:solidFill>
                <a:latin typeface="Arial"/>
              </a:rPr>
              <a:t>MediKiosk</a:t>
            </a:r>
            <a:endParaRPr sz="3000" b="1" i="0" dirty="0">
              <a:solidFill>
                <a:srgbClr val="1F497D"/>
              </a:solidFill>
              <a:latin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37250" y="5760720"/>
            <a:ext cx="4572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i="0" dirty="0">
                <a:solidFill>
                  <a:srgbClr val="595959"/>
                </a:solidFill>
                <a:latin typeface="Arial"/>
              </a:rPr>
              <a:t>AI Voice &amp; Touch Clinical History Kiosk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1F497D"/>
                </a:solidFill>
              </a:rPr>
              <a:t>CODEBLOOM</a:t>
            </a:r>
            <a:br/>
            <a:r>
              <a:rPr sz="1100" b="1">
                <a:solidFill>
                  <a:srgbClr val="1F497D"/>
                </a:solidFill>
              </a:rPr>
              <a:t>2.0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65760" y="1115568"/>
            <a:ext cx="11430000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MediKiosk – AI Voice &amp; Touch Clinical History Kiosk with Medical Document OCR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600200"/>
            <a:ext cx="1143000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600" b="0" i="0">
                <a:solidFill>
                  <a:srgbClr val="1F497D"/>
                </a:solidFill>
                <a:latin typeface="Arial"/>
              </a:rPr>
              <a:t>❖ </a:t>
            </a:r>
            <a:r>
              <a:rPr sz="1600" b="1" i="0" u="sng">
                <a:solidFill>
                  <a:srgbClr val="1F497D"/>
                </a:solidFill>
                <a:latin typeface="Arial"/>
              </a:rPr>
              <a:t>Proposed Solution (Describe your Idea/Solution/Prototype)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65760" y="1956816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5" name="Pentagon 15364"/>
          <p:cNvSpPr/>
          <p:nvPr/>
        </p:nvSpPr>
        <p:spPr>
          <a:xfrm>
            <a:off x="365760" y="2286000"/>
            <a:ext cx="2194560" cy="384048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  Identify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65760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t"/>
          <a:lstStyle/>
          <a:p>
            <a:pPr marL="146304" indent="-146304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RFID tap (card holds no health data) or mobile OTP</a:t>
            </a:r>
          </a:p>
          <a:p>
            <a:pPr marL="146304" indent="-146304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13 languages · audio-guided consent</a:t>
            </a:r>
          </a:p>
        </p:txBody>
      </p:sp>
      <p:sp>
        <p:nvSpPr>
          <p:cNvPr id="15367" name="Pentagon 15366"/>
          <p:cNvSpPr/>
          <p:nvPr/>
        </p:nvSpPr>
        <p:spPr>
          <a:xfrm>
            <a:off x="2679191" y="2286000"/>
            <a:ext cx="2194560" cy="384048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  Converse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679191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t"/>
          <a:lstStyle/>
          <a:p>
            <a:pPr marL="146304" indent="-146304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Adaptive history by voice or touch</a:t>
            </a:r>
          </a:p>
          <a:p>
            <a:pPr marL="146304" indent="-146304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AYUSH mode · instant red-flag alert</a:t>
            </a:r>
          </a:p>
        </p:txBody>
      </p:sp>
      <p:sp>
        <p:nvSpPr>
          <p:cNvPr id="15369" name="Pentagon 15368"/>
          <p:cNvSpPr/>
          <p:nvPr/>
        </p:nvSpPr>
        <p:spPr>
          <a:xfrm>
            <a:off x="4992624" y="2286000"/>
            <a:ext cx="2194560" cy="384048"/>
          </a:xfrm>
          <a:prstGeom prst="homePlat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  Scan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992624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t"/>
          <a:lstStyle/>
          <a:p>
            <a:pPr marL="146304" indent="-146304" algn="l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Camera OCR of Rx, labs, discharge notes</a:t>
            </a:r>
          </a:p>
          <a:p>
            <a:pPr marL="146304" indent="-146304" algn="l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Meds, doses, lab values marked ‘needs verification’</a:t>
            </a:r>
          </a:p>
        </p:txBody>
      </p:sp>
      <p:sp>
        <p:nvSpPr>
          <p:cNvPr id="15371" name="Pentagon 15370"/>
          <p:cNvSpPr/>
          <p:nvPr/>
        </p:nvSpPr>
        <p:spPr>
          <a:xfrm>
            <a:off x="7306056" y="2286000"/>
            <a:ext cx="2194560" cy="384048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4  Summarise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7306056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t"/>
          <a:lstStyle/>
          <a:p>
            <a:pPr marL="146304" indent="-146304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Structured summary + medical timeline</a:t>
            </a:r>
          </a:p>
          <a:p>
            <a:pPr marL="146304" indent="-146304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Live on doctor’s screen via WebSocket</a:t>
            </a:r>
          </a:p>
        </p:txBody>
      </p:sp>
      <p:sp>
        <p:nvSpPr>
          <p:cNvPr id="15373" name="Pentagon 15372"/>
          <p:cNvSpPr/>
          <p:nvPr/>
        </p:nvSpPr>
        <p:spPr>
          <a:xfrm>
            <a:off x="9619488" y="2286000"/>
            <a:ext cx="2194560" cy="384048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5  Consult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9619488" y="2697480"/>
            <a:ext cx="2194560" cy="1024128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t"/>
          <a:lstStyle/>
          <a:p>
            <a:pPr marL="146304" indent="-146304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Doctor edits / accepts / rejects</a:t>
            </a:r>
          </a:p>
          <a:p>
            <a:pPr marL="146304" indent="-146304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Rx-safety alerts · FHIR-ready record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365760" y="3858768"/>
            <a:ext cx="585216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365760" y="418795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2–5 min consults; history skipped</a:t>
            </a:r>
          </a:p>
        </p:txBody>
      </p:sp>
      <p:sp>
        <p:nvSpPr>
          <p:cNvPr id="15377" name="Right Arrow 15376"/>
          <p:cNvSpPr/>
          <p:nvPr/>
        </p:nvSpPr>
        <p:spPr>
          <a:xfrm>
            <a:off x="2606040" y="427939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2852928" y="418795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History taken before the visit; doctor reads it in seconds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365760" y="459943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Paper records, in no order</a:t>
            </a:r>
          </a:p>
        </p:txBody>
      </p:sp>
      <p:sp>
        <p:nvSpPr>
          <p:cNvPr id="15380" name="Right Arrow 15379"/>
          <p:cNvSpPr/>
          <p:nvPr/>
        </p:nvSpPr>
        <p:spPr>
          <a:xfrm>
            <a:off x="2606040" y="469087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381" name="Rounded Rectangle 15380"/>
          <p:cNvSpPr/>
          <p:nvPr/>
        </p:nvSpPr>
        <p:spPr>
          <a:xfrm>
            <a:off x="2852928" y="459943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Camera OCR → meds, labs, diagnoses on a timeline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365760" y="501091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Apps exclude elderly / rural users</a:t>
            </a:r>
          </a:p>
        </p:txBody>
      </p:sp>
      <p:sp>
        <p:nvSpPr>
          <p:cNvPr id="15383" name="Right Arrow 15382"/>
          <p:cNvSpPr/>
          <p:nvPr/>
        </p:nvSpPr>
        <p:spPr>
          <a:xfrm>
            <a:off x="2606040" y="510235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384" name="Rounded Rectangle 15383"/>
          <p:cNvSpPr/>
          <p:nvPr/>
        </p:nvSpPr>
        <p:spPr>
          <a:xfrm>
            <a:off x="2852928" y="501091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Kiosk: voice + touch, RFID tap, 13 languages, audio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365760" y="542239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Emergencies wait in the queue</a:t>
            </a:r>
          </a:p>
        </p:txBody>
      </p:sp>
      <p:sp>
        <p:nvSpPr>
          <p:cNvPr id="15386" name="Right Arrow 15385"/>
          <p:cNvSpPr/>
          <p:nvPr/>
        </p:nvSpPr>
        <p:spPr>
          <a:xfrm>
            <a:off x="2606040" y="551383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387" name="Rounded Rectangle 15386"/>
          <p:cNvSpPr/>
          <p:nvPr/>
        </p:nvSpPr>
        <p:spPr>
          <a:xfrm>
            <a:off x="2852928" y="542239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Rule-based red flag → top of queue, instantly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365760" y="5833872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AYUSH history too deep to finish</a:t>
            </a:r>
          </a:p>
        </p:txBody>
      </p:sp>
      <p:sp>
        <p:nvSpPr>
          <p:cNvPr id="15389" name="Right Arrow 15388"/>
          <p:cNvSpPr/>
          <p:nvPr/>
        </p:nvSpPr>
        <p:spPr>
          <a:xfrm>
            <a:off x="2606040" y="5925312"/>
            <a:ext cx="201168" cy="182880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5390" name="Rounded Rectangle 15389"/>
          <p:cNvSpPr/>
          <p:nvPr/>
        </p:nvSpPr>
        <p:spPr>
          <a:xfrm>
            <a:off x="2852928" y="5833872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Dashavidha Pariksha interview mode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6629400" y="3858768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629400" y="4187952"/>
            <a:ext cx="5212080" cy="21031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Patient-driven history + document digitisation in ONE flow – beyond admin check-in</a:t>
            </a:r>
          </a:p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Safety path is rule-based: no LLM decides emergencies</a:t>
            </a:r>
          </a:p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question answerable by voice OR touch – zero training</a:t>
            </a:r>
          </a:p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Allopathic and AYUSH question trees in one engine</a:t>
            </a:r>
          </a:p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Privacy-by-design: RFID card stores only a random ID; consent gates all data</a:t>
            </a:r>
          </a:p>
          <a:p>
            <a:pPr marL="146304" indent="-146304" algn="l">
              <a:spcAft>
                <a:spcPts val="600"/>
              </a:spcAft>
              <a:buClr>
                <a:srgbClr val="E8802A"/>
              </a:buClr>
              <a:buFont typeface="Arial"/>
              <a:buChar char="•"/>
            </a:pPr>
            <a:r>
              <a:rPr sz="1100" b="0" i="0">
                <a:solidFill>
                  <a:srgbClr val="1A1A1A"/>
                </a:solidFill>
                <a:latin typeface="Arial"/>
              </a:rPr>
              <a:t>Same data feeds Rx-safety (NLEM 2022, Jan Aushadhi) and regional surveillance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1F497D"/>
                </a:solidFill>
              </a:rPr>
              <a:t>CODEBLOOM</a:t>
            </a:r>
            <a:br/>
            <a:r>
              <a:rPr sz="1100" b="1">
                <a:solidFill>
                  <a:srgbClr val="1F497D"/>
                </a:solidFill>
              </a:rPr>
              <a:t>2.0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45262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100" b="1" i="0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916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417320" y="169164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React 18, TypeScript, Vite, Tailwind CSS; Capacitor for the Android patient app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65760" y="233172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417320" y="233172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Node.js, Express, Socket.IO (real-time alerts), Prisma ORM, Zod validation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65760" y="297180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1417320" y="297180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CockroachDB (PostgreSQL-compatible); multi-hospital, consent-aware schema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361188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Clinical AI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1417320" y="361188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JSON clinical question trees + deterministic red-flag rules; NLEM-based Rx-safety engine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65760" y="425196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Speech &amp; OCR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1417320" y="425196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Web Speech API for voice in/out (Bhashini planned); Gemini Vision OCR with safe fallback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65760" y="489204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Hardware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1417320" y="489204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Arduino Nano + MFRC522 RFID reader (USB serial); touchscreen PC / tablet; camera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5532120"/>
            <a:ext cx="1005840" cy="548640"/>
          </a:xfrm>
          <a:prstGeom prst="roundRect">
            <a:avLst>
              <a:gd name="adj" fmla="val 12000"/>
            </a:avLst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Standards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1417320" y="5532120"/>
            <a:ext cx="3474720" cy="5486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FHIR R4 (ABDM / NRCeS profiles, demo mode); REST + WebSocket APIs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120640" y="1170432"/>
            <a:ext cx="67208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100" b="1" i="0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120640" y="1719072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RFID / OTP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120640" y="2103120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Voice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120640" y="2487168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Touch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120640" y="2871215"/>
            <a:ext cx="1188720" cy="310896"/>
          </a:xfrm>
          <a:prstGeom prst="roundRect">
            <a:avLst>
              <a:gd name="adj" fmla="val 20000"/>
            </a:avLst>
          </a:prstGeom>
          <a:solidFill>
            <a:srgbClr val="FDF1E4"/>
          </a:solidFill>
          <a:ln w="9525">
            <a:solidFill>
              <a:srgbClr val="E88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Camera scan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6336792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6565392" y="1719072"/>
            <a:ext cx="1371600" cy="146304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Patient Kiosk &amp; Android App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React · Capacitor
idle-timeout guard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7964423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8193023" y="1719072"/>
            <a:ext cx="1508760" cy="1463040"/>
          </a:xfrm>
          <a:prstGeom prst="roundRect">
            <a:avLst>
              <a:gd name="adj" fmla="val 6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API + WebSocket hub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Arial"/>
              </a:rPr>
              <a:t>Express · Socket.IO
consent gate · audit log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9729216" y="2331720"/>
            <a:ext cx="201168" cy="237744"/>
          </a:xfrm>
          <a:prstGeom prst="right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9957816" y="1719072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Clinical engine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question trees + red-flag rules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957816" y="2231136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Document OCR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Gemini Vision + fallback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9957816" y="2743200"/>
            <a:ext cx="1883664" cy="438912"/>
          </a:xfrm>
          <a:prstGeom prst="roundRect">
            <a:avLst>
              <a:gd name="adj" fmla="val 12000"/>
            </a:avLst>
          </a:prstGeom>
          <a:solidFill>
            <a:srgbClr val="E6F4EC"/>
          </a:solidFill>
          <a:ln w="952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/>
            <a:r>
              <a:rPr sz="1000" b="1" i="0">
                <a:solidFill>
                  <a:srgbClr val="1A1A1A"/>
                </a:solidFill>
                <a:latin typeface="Arial"/>
              </a:rPr>
              <a:t>Rx-safety + surveillance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NLEM 2022 · outbreak signals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120640" y="3310128"/>
            <a:ext cx="6720840" cy="384048"/>
          </a:xfrm>
          <a:prstGeom prst="roundRect">
            <a:avLst>
              <a:gd name="adj" fmla="val 20000"/>
            </a:avLst>
          </a:prstGeom>
          <a:solidFill>
            <a:srgbClr val="FDECEC"/>
          </a:solidFill>
          <a:ln w="9525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C62828"/>
                </a:solidFill>
                <a:latin typeface="Arial"/>
              </a:rPr>
              <a:t>EMERGENCY PATH:  </a:t>
            </a:r>
            <a:r>
              <a:rPr sz="1000" b="0" i="0">
                <a:solidFill>
                  <a:srgbClr val="1A1A1A"/>
                </a:solidFill>
                <a:latin typeface="Arial"/>
              </a:rPr>
              <a:t>risky answer → rule-based red flag → instant alert → top of doctor queue (no LLM)</a:t>
            </a:r>
          </a:p>
        </p:txBody>
      </p:sp>
      <p:sp>
        <p:nvSpPr>
          <p:cNvPr id="17439" name="Down Arrow 17438"/>
          <p:cNvSpPr/>
          <p:nvPr/>
        </p:nvSpPr>
        <p:spPr>
          <a:xfrm>
            <a:off x="8366759" y="3703320"/>
            <a:ext cx="201168" cy="118872"/>
          </a:xfrm>
          <a:prstGeom prst="down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40" name="Rounded Rectangle 17439"/>
          <p:cNvSpPr/>
          <p:nvPr/>
        </p:nvSpPr>
        <p:spPr>
          <a:xfrm>
            <a:off x="5120640" y="3822191"/>
            <a:ext cx="6720840" cy="365760"/>
          </a:xfrm>
          <a:prstGeom prst="roundRect">
            <a:avLst>
              <a:gd name="adj" fmla="val 2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CockroachDB 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patients · sessions · consent · history · documents · timeline · queues · prescriptions</a:t>
            </a:r>
          </a:p>
        </p:txBody>
      </p:sp>
      <p:sp>
        <p:nvSpPr>
          <p:cNvPr id="17441" name="Down Arrow 17440"/>
          <p:cNvSpPr/>
          <p:nvPr/>
        </p:nvSpPr>
        <p:spPr>
          <a:xfrm>
            <a:off x="8366759" y="4206240"/>
            <a:ext cx="201168" cy="201168"/>
          </a:xfrm>
          <a:prstGeom prst="downArrow">
            <a:avLst/>
          </a:prstGeom>
          <a:solidFill>
            <a:srgbClr val="9FB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42" name="Rounded Rectangle 17441"/>
          <p:cNvSpPr/>
          <p:nvPr/>
        </p:nvSpPr>
        <p:spPr>
          <a:xfrm>
            <a:off x="5120640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Doctor dashboard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queue · Patient 360 · summary review · Rx writer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821424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Patient portal + app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records · prescriptions · OTP login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522208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Hospital &amp; central admin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queues · device health · signals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10222992" y="443484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F497D"/>
                </a:solidFill>
                <a:latin typeface="Arial"/>
              </a:rPr>
              <a:t>FHIR R4 adapter</a:t>
            </a:r>
          </a:p>
          <a:p>
            <a:pPr algn="ctr"/>
            <a:r>
              <a:rPr sz="900" b="0" i="0">
                <a:solidFill>
                  <a:srgbClr val="1A1A1A"/>
                </a:solidFill>
                <a:latin typeface="Arial"/>
              </a:rPr>
              <a:t>→ ABDM (demo mode today)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5120640" y="544068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E8802A"/>
                </a:solidFill>
                <a:latin typeface="Arial"/>
              </a:rPr>
              <a:t>LIVE PROTOTYPE</a:t>
            </a:r>
          </a:p>
          <a:p>
            <a:pPr algn="ctr"/>
            <a:r>
              <a:rPr sz="950" b="0" i="0" u="sng">
                <a:solidFill>
                  <a:srgbClr val="0070C0"/>
                </a:solidFill>
                <a:latin typeface="Arial"/>
                <a:hlinkClick r:id="rId4"/>
              </a:rPr>
              <a:t>medikiosk-sih26047-three.vercel.app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863840" y="5440680"/>
            <a:ext cx="26060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E8802A"/>
                </a:solidFill>
                <a:latin typeface="Arial"/>
              </a:rPr>
              <a:t>GITHUB REPOSITORY</a:t>
            </a:r>
          </a:p>
          <a:p>
            <a:pPr algn="ctr"/>
            <a:r>
              <a:rPr sz="950" b="0" i="0" u="sng">
                <a:solidFill>
                  <a:srgbClr val="0070C0"/>
                </a:solidFill>
                <a:latin typeface="Arial"/>
                <a:hlinkClick r:id="rId5"/>
              </a:rPr>
              <a:t>github.com/aadityavishnoi/MediKisok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10607040" y="5440680"/>
            <a:ext cx="12344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FB0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1700" b="1" i="0">
                <a:solidFill>
                  <a:srgbClr val="E8802A"/>
                </a:solidFill>
                <a:latin typeface="Arial"/>
              </a:rPr>
              <a:t>7 + 1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front-end apps + backend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1F497D"/>
                </a:solidFill>
              </a:rPr>
              <a:t>CODEBLOOM</a:t>
            </a:r>
            <a:br/>
            <a:r>
              <a:rPr sz="1100" b="1">
                <a:solidFill>
                  <a:srgbClr val="1F497D"/>
                </a:solidFill>
              </a:rPr>
              <a:t>2.0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17904"/>
            <a:ext cx="1783080" cy="256032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TECHNICAL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801368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18872" indent="-118872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Prototype already runs end to end (7 front-end apps + real-time backend)</a:t>
            </a:r>
          </a:p>
          <a:p>
            <a:pPr marL="118872" indent="-118872" algn="l">
              <a:spcAft>
                <a:spcPts val="400"/>
              </a:spcAft>
              <a:buClr>
                <a:srgbClr val="0070C0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Mature open stack; speech, OCR and safety engines are swappable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212848" y="1517904"/>
            <a:ext cx="1783080" cy="256032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212848" y="1801368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18872" indent="-118872" algn="l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Fits beside existing registration / HIS via REST + FHIR</a:t>
            </a:r>
          </a:p>
          <a:p>
            <a:pPr marL="118872" indent="-118872" algn="l">
              <a:spcAft>
                <a:spcPts val="400"/>
              </a:spcAft>
              <a:buClr>
                <a:srgbClr val="2E9E5B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Touch fallback; zero-training use in a waiting room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059936" y="1517904"/>
            <a:ext cx="1783080" cy="256032"/>
          </a:xfrm>
          <a:prstGeom prst="roundRect">
            <a:avLst>
              <a:gd name="adj" fmla="val 20000"/>
            </a:avLst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59936" y="1801368"/>
            <a:ext cx="1783080" cy="137160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18872" indent="-118872" algn="l">
              <a:spcAft>
                <a:spcPts val="400"/>
              </a:spcAft>
              <a:buClr>
                <a:srgbClr val="E8802A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Off-the-shelf hardware: PC / tablet, camera, RFID module</a:t>
            </a:r>
          </a:p>
          <a:p>
            <a:pPr marL="118872" indent="-118872" algn="l">
              <a:spcAft>
                <a:spcPts val="400"/>
              </a:spcAft>
              <a:buClr>
                <a:srgbClr val="E8802A"/>
              </a:buClr>
              <a:buFont typeface="Arial"/>
              <a:buChar char="•"/>
            </a:pPr>
            <a:r>
              <a:rPr sz="950" b="0" i="0">
                <a:solidFill>
                  <a:srgbClr val="1A1A1A"/>
                </a:solidFill>
                <a:latin typeface="Arial"/>
              </a:rPr>
              <a:t>Frees doctor time; suggests Jan Aushadhi generics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65760" y="3273552"/>
            <a:ext cx="5486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rial"/>
              </a:rPr>
              <a:t>Problem-statement requirements vs. working prototype (23 items, our own code audit)</a:t>
            </a:r>
          </a:p>
        </p:txBody>
      </p:sp>
      <p:graphicFrame>
        <p:nvGraphicFramePr>
          <p:cNvPr id="17418" name="Chart 17417"/>
          <p:cNvGraphicFramePr>
            <a:graphicFrameLocks noGrp="1"/>
          </p:cNvGraphicFramePr>
          <p:nvPr/>
        </p:nvGraphicFramePr>
        <p:xfrm>
          <a:off x="365760" y="3520440"/>
          <a:ext cx="5486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6080760" y="1170432"/>
          <a:ext cx="5742432" cy="2615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Potential challenges and risks</a:t>
                      </a:r>
                    </a:p>
                  </a:txBody>
                  <a:tcPr marL="73152" marR="73152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Strategies for overcoming these challenges</a:t>
                      </a:r>
                    </a:p>
                  </a:txBody>
                  <a:tcPr marL="73152" marR="73152" marT="27432" marB="27432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</a:rPr>
                        <a:t>Speech accuracy in noisy wards / accents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Touch is always available; Bhashini / AI4Bharat models via pluggable speech interface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</a:rPr>
                        <a:t>OCR errors on handwriting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Confidence scores, ‘needs verification’ status, original image shown to doctor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</a:rPr>
                        <a:t>Data protection (DPDP Act 2023)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Consent-first flow, audit log, no health data on RFID card, role-based doctor login, idle timeout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</a:rPr>
                        <a:t>Clinical correctness of questions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Clinician-reviewed trees; doctor confirms every summary; AI never diagnoses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A1A1A"/>
                          </a:solidFill>
                          <a:latin typeface="Arial"/>
                        </a:rPr>
                        <a:t>Adoption &amp; connectivity</a:t>
                      </a:r>
                    </a:p>
                  </a:txBody>
                  <a:tcPr marL="73152" marR="73152" marT="27432" marB="27432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Commodity hardware, touch fallback, REST/FHIR fit beside existing HIS; offline mode on roadmap</a:t>
                      </a:r>
                    </a:p>
                  </a:txBody>
                  <a:tcPr marL="73152" marR="73152" marT="27432" marB="27432" anchor="ctr"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20" name="TextBox 17419"/>
          <p:cNvSpPr txBox="1"/>
          <p:nvPr/>
        </p:nvSpPr>
        <p:spPr>
          <a:xfrm>
            <a:off x="6080760" y="3931920"/>
            <a:ext cx="574243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Future scope (phased rollout)</a:t>
            </a:r>
          </a:p>
        </p:txBody>
      </p:sp>
      <p:sp>
        <p:nvSpPr>
          <p:cNvPr id="17421" name="Pentagon 17420"/>
          <p:cNvSpPr/>
          <p:nvPr/>
        </p:nvSpPr>
        <p:spPr>
          <a:xfrm>
            <a:off x="6080760" y="4242816"/>
            <a:ext cx="1417320" cy="310896"/>
          </a:xfrm>
          <a:prstGeom prst="homePlat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A – Strengthen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080760" y="4590288"/>
            <a:ext cx="1371600" cy="164592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09728" indent="-109728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Bhashini / AI4Bharat speech</a:t>
            </a:r>
          </a:p>
          <a:p>
            <a:pPr marL="109728" indent="-109728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13-language question banks</a:t>
            </a:r>
          </a:p>
          <a:p>
            <a:pPr marL="109728" indent="-109728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OCR benchmark on handwriting</a:t>
            </a:r>
          </a:p>
          <a:p>
            <a:pPr marL="109728" indent="-109728" algn="l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Real BP / SpO2 vitals pod</a:t>
            </a:r>
          </a:p>
        </p:txBody>
      </p:sp>
      <p:sp>
        <p:nvSpPr>
          <p:cNvPr id="17423" name="Pentagon 17422"/>
          <p:cNvSpPr/>
          <p:nvPr/>
        </p:nvSpPr>
        <p:spPr>
          <a:xfrm>
            <a:off x="7537399" y="4242816"/>
            <a:ext cx="1417320" cy="310896"/>
          </a:xfrm>
          <a:prstGeom prst="homePlat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 – Integrate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537399" y="4590288"/>
            <a:ext cx="1371600" cy="164592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09728" indent="-109728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Live ABDM / ABHA + FHIR bundles</a:t>
            </a:r>
          </a:p>
          <a:p>
            <a:pPr marL="109728" indent="-109728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HIS / EMR connectors</a:t>
            </a:r>
          </a:p>
          <a:p>
            <a:pPr marL="109728" indent="-109728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Revocable consent</a:t>
            </a:r>
          </a:p>
          <a:p>
            <a:pPr marL="109728" indent="-109728" algn="l">
              <a:spcAft>
                <a:spcPts val="300"/>
              </a:spcAft>
              <a:buClr>
                <a:srgbClr val="2E9E5B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Admin-portal login (RBAC)</a:t>
            </a:r>
          </a:p>
        </p:txBody>
      </p:sp>
      <p:sp>
        <p:nvSpPr>
          <p:cNvPr id="17425" name="Pentagon 17424"/>
          <p:cNvSpPr/>
          <p:nvPr/>
        </p:nvSpPr>
        <p:spPr>
          <a:xfrm>
            <a:off x="8994038" y="4242816"/>
            <a:ext cx="1417320" cy="310896"/>
          </a:xfrm>
          <a:prstGeom prst="homePlat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C – Pilot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8994038" y="4590288"/>
            <a:ext cx="1371600" cy="164592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09728" indent="-109728" algn="l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OPD pilot with clinicians</a:t>
            </a:r>
          </a:p>
          <a:p>
            <a:pPr marL="109728" indent="-109728" algn="l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Time-motion study</a:t>
            </a:r>
          </a:p>
          <a:p>
            <a:pPr marL="109728" indent="-109728" algn="l">
              <a:spcAft>
                <a:spcPts val="300"/>
              </a:spcAft>
              <a:buClr>
                <a:srgbClr val="E8802A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Clinical validation of question trees</a:t>
            </a:r>
          </a:p>
        </p:txBody>
      </p:sp>
      <p:sp>
        <p:nvSpPr>
          <p:cNvPr id="17427" name="Pentagon 17426"/>
          <p:cNvSpPr/>
          <p:nvPr/>
        </p:nvSpPr>
        <p:spPr>
          <a:xfrm>
            <a:off x="10450677" y="4242816"/>
            <a:ext cx="1417320" cy="310896"/>
          </a:xfrm>
          <a:prstGeom prst="homePlat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D – Scale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10450677" y="4590288"/>
            <a:ext cx="1371600" cy="1645920"/>
          </a:xfrm>
          <a:prstGeom prst="roundRect">
            <a:avLst>
              <a:gd name="adj" fmla="val 5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marL="109728" indent="-109728" algn="l">
              <a:spcAft>
                <a:spcPts val="300"/>
              </a:spcAft>
              <a:buClr>
                <a:srgbClr val="1F497D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Sign-language avatar</a:t>
            </a:r>
          </a:p>
          <a:p>
            <a:pPr marL="109728" indent="-109728" algn="l">
              <a:spcAft>
                <a:spcPts val="300"/>
              </a:spcAft>
              <a:buClr>
                <a:srgbClr val="1F497D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Offline-first mode</a:t>
            </a:r>
          </a:p>
          <a:p>
            <a:pPr marL="109728" indent="-109728" algn="l">
              <a:spcAft>
                <a:spcPts val="300"/>
              </a:spcAft>
              <a:buClr>
                <a:srgbClr val="1F497D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District outbreak heat-maps</a:t>
            </a:r>
          </a:p>
          <a:p>
            <a:pPr marL="109728" indent="-109728" algn="l">
              <a:spcAft>
                <a:spcPts val="300"/>
              </a:spcAft>
              <a:buClr>
                <a:srgbClr val="1F497D"/>
              </a:buClr>
              <a:buFont typeface="Arial"/>
              <a:buChar char="•"/>
            </a:pPr>
            <a:r>
              <a:rPr sz="900" b="0" i="0">
                <a:solidFill>
                  <a:srgbClr val="1A1A1A"/>
                </a:solidFill>
                <a:latin typeface="Arial"/>
              </a:rPr>
              <a:t>State-level rollout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1F497D"/>
                </a:solidFill>
              </a:rPr>
              <a:t>CODEBLOOM</a:t>
            </a:r>
            <a:br/>
            <a:r>
              <a:rPr sz="1100" b="1">
                <a:solidFill>
                  <a:srgbClr val="1F497D"/>
                </a:solidFill>
              </a:rPr>
              <a:t>2.0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4,000–10,000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OPD patients per day in tertiary hospitals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42462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2–5 min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typical doctor time per patient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19164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 i="0">
                <a:solidFill>
                  <a:srgbClr val="1F497D"/>
                </a:solidFill>
                <a:latin typeface="Arial"/>
              </a:rPr>
              <a:t>70–80%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of diagnoses possible from a good history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95867" y="118872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200" b="1" i="0">
                <a:solidFill>
                  <a:srgbClr val="E8802A"/>
                </a:solidFill>
                <a:latin typeface="Arial"/>
              </a:rPr>
              <a:t>13</a:t>
            </a:r>
          </a:p>
          <a:p>
            <a:pPr algn="ctr"/>
            <a:r>
              <a:rPr sz="1000" b="0" i="0">
                <a:solidFill>
                  <a:srgbClr val="595959"/>
                </a:solidFill>
                <a:latin typeface="Arial"/>
              </a:rPr>
              <a:t>Indian languages in the patient interface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65760" y="2103120"/>
            <a:ext cx="38404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365760" y="2724912"/>
            <a:ext cx="384048" cy="384048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41248" y="2633472"/>
            <a:ext cx="3429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Patients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Shorter waits; history recorded in their own language; records kept digitally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365760" y="3401568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841248" y="3310128"/>
            <a:ext cx="3429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Doctors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Complete structured history on arrival; more time to examine and counsel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365760" y="4078224"/>
            <a:ext cx="384048" cy="384048"/>
          </a:xfrm>
          <a:prstGeom prst="ellipse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N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41248" y="3986784"/>
            <a:ext cx="3429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Nurses &amp; admins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Less registration / transcription work; emergencies flagged in real time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365760" y="4754880"/>
            <a:ext cx="384048" cy="384048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1248" y="4663440"/>
            <a:ext cx="3429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AYUSH vaidyas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Dashavidha Pariksha captured without eating into consult time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365760" y="5431536"/>
            <a:ext cx="384048" cy="38404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H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41248" y="5340096"/>
            <a:ext cx="3429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Arial"/>
              </a:rPr>
              <a:t>Health system</a:t>
            </a:r>
          </a:p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Structured, consented data for ABDM and public-health surveillance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434840" y="2103120"/>
            <a:ext cx="3657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Arial"/>
              </a:rPr>
              <a:t>Projected doctor-hours freed per day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434840" y="237744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= patients per day × minutes saved ÷ 60. Assumption: 1–2 min of history-taking saved per patient (to be validated in pilot)</a:t>
            </a:r>
          </a:p>
        </p:txBody>
      </p:sp>
      <p:graphicFrame>
        <p:nvGraphicFramePr>
          <p:cNvPr id="17427" name="Chart 174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508227"/>
              </p:ext>
            </p:extLst>
          </p:nvPr>
        </p:nvGraphicFramePr>
        <p:xfrm>
          <a:off x="4434840" y="2890192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428" name="TextBox 17427"/>
          <p:cNvSpPr txBox="1"/>
          <p:nvPr/>
        </p:nvSpPr>
        <p:spPr>
          <a:xfrm>
            <a:off x="8321040" y="2103120"/>
            <a:ext cx="352044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200" b="1" i="0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321040" y="2633472"/>
            <a:ext cx="3502152" cy="105156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0" name="Rounded Rectangle 17429"/>
          <p:cNvSpPr/>
          <p:nvPr/>
        </p:nvSpPr>
        <p:spPr>
          <a:xfrm>
            <a:off x="8394192" y="2706624"/>
            <a:ext cx="1234440" cy="237744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394192" y="2980944"/>
            <a:ext cx="3383280" cy="6857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46304" indent="-146304" algn="l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Inclusive for elderly, rural and low-literacy patients</a:t>
            </a:r>
          </a:p>
          <a:p>
            <a:pPr marL="146304" indent="-146304" algn="l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Earlier detection of emergencies</a:t>
            </a:r>
          </a:p>
          <a:p>
            <a:pPr marL="146304" indent="-146304" algn="l">
              <a:spcAft>
                <a:spcPts val="200"/>
              </a:spcAft>
              <a:buClr>
                <a:srgbClr val="2E9E5B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Same access in 13 languages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321040" y="3776472"/>
            <a:ext cx="3502152" cy="105156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8394192" y="3849624"/>
            <a:ext cx="1234440" cy="237744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ECONOMIC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394192" y="4123944"/>
            <a:ext cx="3383280" cy="6857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46304" indent="-146304" algn="l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Doctor-hours freed (see chart)</a:t>
            </a:r>
          </a:p>
          <a:p>
            <a:pPr marL="146304" indent="-146304" algn="l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Low-cost commodity hardware</a:t>
            </a:r>
          </a:p>
          <a:p>
            <a:pPr marL="146304" indent="-146304" algn="l">
              <a:spcAft>
                <a:spcPts val="200"/>
              </a:spcAft>
              <a:buClr>
                <a:srgbClr val="0070C0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Cheaper Jan Aushadhi generics suggested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321040" y="4919472"/>
            <a:ext cx="3502152" cy="86868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8394192" y="4992624"/>
            <a:ext cx="1234440" cy="237744"/>
          </a:xfrm>
          <a:prstGeom prst="roundRect">
            <a:avLst/>
          </a:prstGeom>
          <a:solidFill>
            <a:srgbClr val="E88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ENVIRONMENTAL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394192" y="5266944"/>
            <a:ext cx="3383280" cy="50291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marL="146304" indent="-146304" algn="l">
              <a:spcAft>
                <a:spcPts val="200"/>
              </a:spcAft>
              <a:buClr>
                <a:srgbClr val="E8802A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Paperless intake and digital records</a:t>
            </a:r>
          </a:p>
          <a:p>
            <a:pPr marL="146304" indent="-146304" algn="l">
              <a:spcAft>
                <a:spcPts val="200"/>
              </a:spcAft>
              <a:buClr>
                <a:srgbClr val="E8802A"/>
              </a:buClr>
              <a:buFont typeface="Arial"/>
              <a:buChar char="•"/>
            </a:pPr>
            <a:r>
              <a:rPr sz="1000" b="0" i="0">
                <a:solidFill>
                  <a:srgbClr val="1A1A1A"/>
                </a:solidFill>
                <a:latin typeface="Arial"/>
              </a:rPr>
              <a:t>Less paper for forms and repeated history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65760" y="6053328"/>
            <a:ext cx="114300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Sources: SIH 2026 problem statement 26047 (volumes, consultation time, 70–80% figure); doctor-hours chart is simple arithmetic on those volumes, not a measured result.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1100" b="1" dirty="0">
                <a:solidFill>
                  <a:srgbClr val="1F497D"/>
                </a:solidFill>
              </a:rPr>
              <a:t>CODEBLOOM</a:t>
            </a:r>
            <a:br/>
            <a:r>
              <a:rPr sz="1100" b="1">
                <a:solidFill>
                  <a:srgbClr val="1F497D"/>
                </a:solidFill>
              </a:rPr>
              <a:t>2.0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65760" y="1170432"/>
            <a:ext cx="114300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E8802A"/>
                </a:solidFill>
                <a:latin typeface="Arial"/>
              </a:rPr>
              <a:t>■ </a:t>
            </a:r>
            <a:r>
              <a:rPr sz="1300" b="1" i="0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554480"/>
            <a:ext cx="566928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950" b="1" i="0" dirty="0">
                <a:solidFill>
                  <a:srgbClr val="E8802A"/>
                </a:solidFill>
                <a:latin typeface="Arial"/>
              </a:rPr>
              <a:t>LIVE DEPLOYMENT</a:t>
            </a:r>
          </a:p>
          <a:p>
            <a:pPr algn="l">
              <a:spcAft>
                <a:spcPts val="200"/>
              </a:spcAft>
            </a:pPr>
            <a:r>
              <a:rPr sz="1300" b="1" i="0" u="sng" dirty="0">
                <a:solidFill>
                  <a:srgbClr val="0070C0"/>
                </a:solidFill>
                <a:latin typeface="Arial"/>
                <a:hlinkClick r:id="rId4"/>
              </a:rPr>
              <a:t>medikiosk-sih26047-three.vercel.app</a:t>
            </a:r>
          </a:p>
          <a:p>
            <a:pPr algn="l"/>
            <a:r>
              <a:rPr sz="950" b="0" i="0" dirty="0">
                <a:solidFill>
                  <a:srgbClr val="595959"/>
                </a:solidFill>
                <a:latin typeface="Arial"/>
              </a:rPr>
              <a:t>Apps: /kiosk  /doctor  /portal  /app  /</a:t>
            </a:r>
            <a:r>
              <a:rPr sz="950" b="0" i="0" dirty="0" err="1">
                <a:solidFill>
                  <a:srgbClr val="595959"/>
                </a:solidFill>
                <a:latin typeface="Arial"/>
              </a:rPr>
              <a:t>rfid</a:t>
            </a:r>
            <a:r>
              <a:rPr sz="950" b="0" i="0" dirty="0">
                <a:solidFill>
                  <a:srgbClr val="595959"/>
                </a:solidFill>
                <a:latin typeface="Arial"/>
              </a:rPr>
              <a:t>  /hospital  /central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53912" y="1554480"/>
            <a:ext cx="5669280" cy="868680"/>
          </a:xfrm>
          <a:prstGeom prst="roundRect">
            <a:avLst>
              <a:gd name="adj" fmla="val 8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E8802A"/>
                </a:solidFill>
                <a:latin typeface="Arial"/>
              </a:rPr>
              <a:t>GITHUB REPOSITORY</a:t>
            </a:r>
          </a:p>
          <a:p>
            <a:pPr algn="l">
              <a:spcAft>
                <a:spcPts val="200"/>
              </a:spcAft>
            </a:pPr>
            <a:r>
              <a:rPr sz="1300" b="1" i="0" u="sng">
                <a:solidFill>
                  <a:srgbClr val="0070C0"/>
                </a:solidFill>
                <a:latin typeface="Arial"/>
                <a:hlinkClick r:id="rId5"/>
              </a:rPr>
              <a:t>github.com/aadityavishnoi/MediKisok</a:t>
            </a:r>
          </a:p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Source code, model cards and data-source notes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365760" y="2542032"/>
          <a:ext cx="11457432" cy="3346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7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Reference / source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Link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How we used it</a:t>
                      </a:r>
                    </a:p>
                  </a:txBody>
                  <a:tcPr marL="54864" marR="54864" marT="18288" marB="18288"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SIH 2026 Problem Statement 26047 – Patient Case-Taking Software (Ministry of Ayush / All India Institute of Ayurveda)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6"/>
                        </a:rPr>
                        <a:t>sih.gov.in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Problem scope, four modules, patient journey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Irving G, et al. International variations in primary care physician consultation time: a systematic review of 67 countries. BMJ Open 2017;7:e017902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7"/>
                        </a:rPr>
                        <a:t>doi.org/10.1136/bmjopen-2017-017902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Evidence behind the short-consultation problem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Ayushman Bharat Digital Mission – National Health Authority (ABHA, Health Information Exchange)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8"/>
                        </a:rPr>
                        <a:t>abdm.gov.in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ABHA ID field; consent and interoperability roadmap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National Resource Centre for EHR Standards – ABDM FHIR R4 profiles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9"/>
                        </a:rPr>
                        <a:t>nrces.in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Patient / Encounter resource mapping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Digital Personal Data Protection Act, 2023 (MeitY)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0"/>
                        </a:rPr>
                        <a:t>meity.gov.in – DPDP Act 2023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Consent-first design, data minimisation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Bhashini and AI4Bharat – Indian-language speech (ASR / TTS) models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1"/>
                        </a:rPr>
                        <a:t>bhashini.gov.in</a:t>
                      </a:r>
                      <a:r>
                        <a:rPr sz="900" b="0" i="0">
                          <a:solidFill>
                            <a:srgbClr val="595959"/>
                          </a:solidFill>
                          <a:latin typeface="Arial"/>
                        </a:rPr>
                        <a:t>  ·  </a:t>
                      </a:r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2"/>
                        </a:rPr>
                        <a:t>ai4bharat.org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Planned upgrade of the pluggable speech interface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National List of Essential Medicines 2022 (MoHFW); PM Bharatiya Janaushadhi Pariyojana; Integrated Disease Surveillance Programme (NCDC)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3"/>
                        </a:rPr>
                        <a:t>mohfw.gov.in</a:t>
                      </a:r>
                      <a:r>
                        <a:rPr sz="900" b="0" i="0">
                          <a:solidFill>
                            <a:srgbClr val="595959"/>
                          </a:solidFill>
                          <a:latin typeface="Arial"/>
                        </a:rPr>
                        <a:t>  ·  </a:t>
                      </a:r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4"/>
                        </a:rPr>
                        <a:t>janaushadhi.gov.in</a:t>
                      </a:r>
                      <a:r>
                        <a:rPr sz="900" b="0" i="0">
                          <a:solidFill>
                            <a:srgbClr val="595959"/>
                          </a:solidFill>
                          <a:latin typeface="Arial"/>
                        </a:rPr>
                        <a:t>  ·  </a:t>
                      </a:r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5"/>
                        </a:rPr>
                        <a:t>idsp.mohfw.gov.in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Rx-safety catalogue, generic alternatives, surveillance data model</a:t>
                      </a:r>
                    </a:p>
                  </a:txBody>
                  <a:tcPr marL="54864" marR="54864"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F497D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1A1A"/>
                          </a:solidFill>
                          <a:latin typeface="Arial"/>
                        </a:rPr>
                        <a:t>W3C Web Speech API; Arduino MFRC522 library; Google Gemini API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6"/>
                        </a:rPr>
                        <a:t>wicg.github.io/speech-api</a:t>
                      </a:r>
                      <a:r>
                        <a:rPr sz="900" b="0" i="0">
                          <a:solidFill>
                            <a:srgbClr val="595959"/>
                          </a:solidFill>
                          <a:latin typeface="Arial"/>
                        </a:rPr>
                        <a:t>  ·  </a:t>
                      </a:r>
                      <a:r>
                        <a:rPr sz="900" b="0" i="0" u="sng">
                          <a:solidFill>
                            <a:srgbClr val="0070C0"/>
                          </a:solidFill>
                          <a:latin typeface="Arial"/>
                          <a:hlinkClick r:id="rId17"/>
                        </a:rPr>
                        <a:t>github.com/OSSLibraries/Arduino_MFRC522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A1A1A"/>
                          </a:solidFill>
                          <a:latin typeface="Arial"/>
                        </a:rPr>
                        <a:t>Voice I/O, RFID reader firmware, vision OCR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365760" y="6016752"/>
            <a:ext cx="114300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Prototype status figures on slide 4 come from our own code audit. Volumes and consultation-time figures come from the problem statement and the BMJ Open review above.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1524</Words>
  <Application>Microsoft Office PowerPoint</Application>
  <PresentationFormat>Widescreen</PresentationFormat>
  <Paragraphs>242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Aaditya Vishnoi</cp:lastModifiedBy>
  <cp:revision>149</cp:revision>
  <dcterms:created xsi:type="dcterms:W3CDTF">2013-12-12T18:46:50Z</dcterms:created>
  <dcterms:modified xsi:type="dcterms:W3CDTF">2026-09-21T05:14:40Z</dcterms:modified>
  <cp:category/>
</cp:coreProperties>
</file>